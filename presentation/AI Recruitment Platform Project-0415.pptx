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86" r:id="rId20"/>
    <p:sldId id="287" r:id="rId21"/>
    <p:sldId id="288" r:id="rId22"/>
    <p:sldId id="289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6256000" cy="9144000"/>
  <p:notesSz cx="9144000" cy="16256000"/>
  <p:embeddedFontLst>
    <p:embeddedFont>
      <p:font typeface="Quattrocento Sans" panose="020F0502020204030204" pitchFamily="3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84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6096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1524000" cy="1524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3556000"/>
            <a:ext cx="2540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78000" y="2286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JobIntel: AI-Powered Recruitment Platform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223000" y="3302000"/>
            <a:ext cx="3810000" cy="254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48000" y="3683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Egyptian E-Learning University – Faculty of Computers &amp; Information Technology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18000" y="431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Supervised by Dr. Samar Hisham  |  Assistant: Eng. Sara Galal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0" y="5080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Fayoum, 2026</a:t>
            </a:r>
            <a:endParaRPr lang="en-US" sz="20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524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Mohamed Adham Mosa Elsayed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2202022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2222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Noor Mostafa Saleh Mahmoud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2201959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2921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Nada Mohamed Ahmed Mohamed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2201991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3619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Yahia Mohamed Abdelrahman Sayed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2202125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62000" y="4318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 Mohamed Elsayed Othman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2202081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2000" y="1524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Ziad Sameh Abdelfattah Amin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2202043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82000" y="2222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 Khaled Ali Abdulgalil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2202060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82000" y="29210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Sandy Samir Rizk Hanna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2201974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2000" y="3619500"/>
            <a:ext cx="711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Abdelrahman Ahmed Farouk Mahmoud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2202042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546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700"/>
                </a:moveTo>
                <a:cubicBezTo>
                  <a:pt x="239648" y="12700"/>
                  <a:pt x="269240" y="49689"/>
                  <a:pt x="269240" y="95250"/>
                </a:cubicBezTo>
                <a:cubicBezTo>
                  <a:pt x="269240" y="140811"/>
                  <a:pt x="239648" y="177800"/>
                  <a:pt x="203200" y="177800"/>
                </a:cubicBezTo>
                <a:cubicBezTo>
                  <a:pt x="166752" y="177800"/>
                  <a:pt x="137160" y="140811"/>
                  <a:pt x="137160" y="95250"/>
                </a:cubicBezTo>
                <a:cubicBezTo>
                  <a:pt x="137160" y="49689"/>
                  <a:pt x="166752" y="12700"/>
                  <a:pt x="203200" y="12700"/>
                </a:cubicBezTo>
                <a:close/>
                <a:moveTo>
                  <a:pt x="60960" y="69850"/>
                </a:moveTo>
                <a:cubicBezTo>
                  <a:pt x="86194" y="69850"/>
                  <a:pt x="106680" y="95458"/>
                  <a:pt x="106680" y="127000"/>
                </a:cubicBezTo>
                <a:cubicBezTo>
                  <a:pt x="106680" y="158542"/>
                  <a:pt x="86194" y="184150"/>
                  <a:pt x="60960" y="184150"/>
                </a:cubicBezTo>
                <a:cubicBezTo>
                  <a:pt x="35726" y="184150"/>
                  <a:pt x="15240" y="158542"/>
                  <a:pt x="15240" y="127000"/>
                </a:cubicBezTo>
                <a:cubicBezTo>
                  <a:pt x="15240" y="95458"/>
                  <a:pt x="35726" y="69850"/>
                  <a:pt x="60960" y="69850"/>
                </a:cubicBezTo>
                <a:close/>
                <a:moveTo>
                  <a:pt x="0" y="330200"/>
                </a:moveTo>
                <a:cubicBezTo>
                  <a:pt x="0" y="274082"/>
                  <a:pt x="36386" y="228600"/>
                  <a:pt x="81280" y="228600"/>
                </a:cubicBezTo>
                <a:cubicBezTo>
                  <a:pt x="89408" y="228600"/>
                  <a:pt x="97282" y="230108"/>
                  <a:pt x="104712" y="232886"/>
                </a:cubicBezTo>
                <a:cubicBezTo>
                  <a:pt x="83820" y="262096"/>
                  <a:pt x="71120" y="300672"/>
                  <a:pt x="71120" y="342900"/>
                </a:cubicBezTo>
                <a:lnTo>
                  <a:pt x="71120" y="355600"/>
                </a:lnTo>
                <a:cubicBezTo>
                  <a:pt x="71120" y="364649"/>
                  <a:pt x="72644" y="373221"/>
                  <a:pt x="75375" y="381000"/>
                </a:cubicBezTo>
                <a:lnTo>
                  <a:pt x="20320" y="381000"/>
                </a:lnTo>
                <a:cubicBezTo>
                  <a:pt x="908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331026" y="381000"/>
                </a:moveTo>
                <a:cubicBezTo>
                  <a:pt x="333756" y="373221"/>
                  <a:pt x="335280" y="364649"/>
                  <a:pt x="335280" y="355600"/>
                </a:cubicBezTo>
                <a:lnTo>
                  <a:pt x="335280" y="342900"/>
                </a:lnTo>
                <a:cubicBezTo>
                  <a:pt x="335280" y="300673"/>
                  <a:pt x="322580" y="262096"/>
                  <a:pt x="301689" y="232886"/>
                </a:cubicBezTo>
                <a:cubicBezTo>
                  <a:pt x="309118" y="230108"/>
                  <a:pt x="316992" y="228600"/>
                  <a:pt x="325120" y="228600"/>
                </a:cubicBezTo>
                <a:cubicBezTo>
                  <a:pt x="370015" y="228600"/>
                  <a:pt x="406400" y="274082"/>
                  <a:pt x="406400" y="330200"/>
                </a:cubicBezTo>
                <a:lnTo>
                  <a:pt x="406400" y="355600"/>
                </a:lnTo>
                <a:cubicBezTo>
                  <a:pt x="406400" y="369649"/>
                  <a:pt x="397320" y="381000"/>
                  <a:pt x="386080" y="381000"/>
                </a:cubicBezTo>
                <a:lnTo>
                  <a:pt x="331026" y="381000"/>
                </a:lnTo>
                <a:close/>
                <a:moveTo>
                  <a:pt x="299720" y="127000"/>
                </a:moveTo>
                <a:cubicBezTo>
                  <a:pt x="299720" y="95458"/>
                  <a:pt x="320206" y="69850"/>
                  <a:pt x="345440" y="69850"/>
                </a:cubicBezTo>
                <a:cubicBezTo>
                  <a:pt x="370674" y="69850"/>
                  <a:pt x="391160" y="95458"/>
                  <a:pt x="391160" y="127000"/>
                </a:cubicBezTo>
                <a:cubicBezTo>
                  <a:pt x="391160" y="158542"/>
                  <a:pt x="370674" y="184150"/>
                  <a:pt x="345440" y="184150"/>
                </a:cubicBezTo>
                <a:cubicBezTo>
                  <a:pt x="320206" y="184150"/>
                  <a:pt x="299720" y="158542"/>
                  <a:pt x="299720" y="127000"/>
                </a:cubicBezTo>
                <a:close/>
                <a:moveTo>
                  <a:pt x="101600" y="342900"/>
                </a:moveTo>
                <a:cubicBezTo>
                  <a:pt x="101600" y="272733"/>
                  <a:pt x="147066" y="215900"/>
                  <a:pt x="203200" y="215900"/>
                </a:cubicBezTo>
                <a:cubicBezTo>
                  <a:pt x="259334" y="215900"/>
                  <a:pt x="304800" y="272733"/>
                  <a:pt x="304800" y="342900"/>
                </a:cubicBezTo>
                <a:lnTo>
                  <a:pt x="304800" y="355600"/>
                </a:lnTo>
                <a:cubicBezTo>
                  <a:pt x="304800" y="369649"/>
                  <a:pt x="295720" y="381000"/>
                  <a:pt x="284480" y="381000"/>
                </a:cubicBezTo>
                <a:lnTo>
                  <a:pt x="121920" y="381000"/>
                </a:lnTo>
                <a:cubicBezTo>
                  <a:pt x="110681" y="381000"/>
                  <a:pt x="101600" y="369649"/>
                  <a:pt x="101600" y="355600"/>
                </a:cubicBezTo>
                <a:lnTo>
                  <a:pt x="101600" y="342900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95400" y="54864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team members — Faculty of Computers &amp; Information Technology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24000" y="17526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Recruitment Platform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16000" y="22225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Connecting job seekers and recruiters through intelligent automation and data-driven matching.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45500" y="1524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99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207500" y="17526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 System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99500" y="22225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profiling, job posting, skill assessment, and AI-based evaluation in one unified platform.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4925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2000" y="34925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60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524000" y="37211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Decision Making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16000" y="41910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Leverages artificial intelligence to improve hiring speed, matching quality, and recruitment outcomes.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4925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45500" y="34925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99500" y="374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9511" y="88900"/>
                </a:moveTo>
                <a:cubicBezTo>
                  <a:pt x="39511" y="45968"/>
                  <a:pt x="70494" y="11113"/>
                  <a:pt x="108656" y="11112"/>
                </a:cubicBezTo>
                <a:cubicBezTo>
                  <a:pt x="146817" y="11112"/>
                  <a:pt x="177800" y="45968"/>
                  <a:pt x="177800" y="88900"/>
                </a:cubicBezTo>
                <a:cubicBezTo>
                  <a:pt x="177800" y="131832"/>
                  <a:pt x="146817" y="166688"/>
                  <a:pt x="108656" y="166688"/>
                </a:cubicBezTo>
                <a:cubicBezTo>
                  <a:pt x="70494" y="166688"/>
                  <a:pt x="39511" y="131832"/>
                  <a:pt x="39511" y="88900"/>
                </a:cubicBezTo>
                <a:close/>
                <a:moveTo>
                  <a:pt x="0" y="322263"/>
                </a:moveTo>
                <a:cubicBezTo>
                  <a:pt x="0" y="254754"/>
                  <a:pt x="48648" y="200025"/>
                  <a:pt x="108656" y="200025"/>
                </a:cubicBezTo>
                <a:cubicBezTo>
                  <a:pt x="168663" y="200025"/>
                  <a:pt x="217311" y="254754"/>
                  <a:pt x="217311" y="322263"/>
                </a:cubicBezTo>
                <a:lnTo>
                  <a:pt x="217311" y="326430"/>
                </a:lnTo>
                <a:cubicBezTo>
                  <a:pt x="217311" y="342543"/>
                  <a:pt x="205705" y="355600"/>
                  <a:pt x="191382" y="355600"/>
                </a:cubicBezTo>
                <a:lnTo>
                  <a:pt x="25929" y="355600"/>
                </a:lnTo>
                <a:cubicBezTo>
                  <a:pt x="11606" y="355600"/>
                  <a:pt x="0" y="342543"/>
                  <a:pt x="0" y="326430"/>
                </a:cubicBezTo>
                <a:lnTo>
                  <a:pt x="0" y="322263"/>
                </a:lnTo>
                <a:close/>
                <a:moveTo>
                  <a:pt x="266700" y="44450"/>
                </a:moveTo>
                <a:cubicBezTo>
                  <a:pt x="299410" y="44450"/>
                  <a:pt x="325967" y="74326"/>
                  <a:pt x="325967" y="111125"/>
                </a:cubicBezTo>
                <a:cubicBezTo>
                  <a:pt x="325967" y="147924"/>
                  <a:pt x="299410" y="177800"/>
                  <a:pt x="266700" y="177800"/>
                </a:cubicBezTo>
                <a:cubicBezTo>
                  <a:pt x="233990" y="177800"/>
                  <a:pt x="207433" y="147924"/>
                  <a:pt x="207433" y="111125"/>
                </a:cubicBezTo>
                <a:cubicBezTo>
                  <a:pt x="207433" y="74326"/>
                  <a:pt x="233990" y="44450"/>
                  <a:pt x="266700" y="44450"/>
                </a:cubicBezTo>
                <a:close/>
                <a:moveTo>
                  <a:pt x="266700" y="211138"/>
                </a:moveTo>
                <a:cubicBezTo>
                  <a:pt x="315780" y="211138"/>
                  <a:pt x="355600" y="255935"/>
                  <a:pt x="355600" y="311150"/>
                </a:cubicBezTo>
                <a:lnTo>
                  <a:pt x="355600" y="326708"/>
                </a:lnTo>
                <a:cubicBezTo>
                  <a:pt x="355600" y="342682"/>
                  <a:pt x="344117" y="355600"/>
                  <a:pt x="329918" y="355600"/>
                </a:cubicBezTo>
                <a:lnTo>
                  <a:pt x="240524" y="355600"/>
                </a:lnTo>
                <a:cubicBezTo>
                  <a:pt x="244598" y="346918"/>
                  <a:pt x="246944" y="336987"/>
                  <a:pt x="246944" y="326430"/>
                </a:cubicBezTo>
                <a:lnTo>
                  <a:pt x="246944" y="322263"/>
                </a:lnTo>
                <a:cubicBezTo>
                  <a:pt x="246944" y="286494"/>
                  <a:pt x="236202" y="253573"/>
                  <a:pt x="218237" y="227320"/>
                </a:cubicBezTo>
                <a:cubicBezTo>
                  <a:pt x="232190" y="217110"/>
                  <a:pt x="248858" y="211138"/>
                  <a:pt x="266700" y="211138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07500" y="3721100"/>
            <a:ext cx="6032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Dual-User Model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699500" y="4191000"/>
            <a:ext cx="6540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both Job Seekers and Recruiters with tailored experiences for each role.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5588000"/>
            <a:ext cx="14732000" cy="1016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2000" y="5588000"/>
            <a:ext cx="50800" cy="1016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16000" y="5651500"/>
            <a:ext cx="1422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</a:t>
            </a:r>
            <a:r>
              <a:rPr lang="en-US" sz="18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recruitment platform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integrates candidate profiling, job posting, skill assessment, and AI-based evaluation to connect job seekers and recruiters efficiently.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Background &amp; Motivation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9800" y="1651000"/>
            <a:ext cx="609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25600" y="1651000"/>
            <a:ext cx="5930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Screening Burden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20955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recruitment relies on manual screening and subjective evaluation, creating inefficiencies.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455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23300" y="1651000"/>
            <a:ext cx="609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309100" y="1651000"/>
            <a:ext cx="5930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Seeker Struggle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74100" y="20955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seekers struggle to find relevant opportunities among large volumes of listings.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3655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2000" y="33655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9800" y="3492500"/>
            <a:ext cx="6096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625600" y="3492500"/>
            <a:ext cx="59309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 Overload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600" y="39370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Recruiters struggle to identify suitable candidates from large applicant pools efficiently.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334000"/>
            <a:ext cx="14732000" cy="1270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795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9986" y="304800"/>
                </a:moveTo>
                <a:cubicBezTo>
                  <a:pt x="317712" y="287099"/>
                  <a:pt x="333163" y="271066"/>
                  <a:pt x="350626" y="257254"/>
                </a:cubicBezTo>
                <a:cubicBezTo>
                  <a:pt x="385233" y="229949"/>
                  <a:pt x="406400" y="193040"/>
                  <a:pt x="406400" y="152400"/>
                </a:cubicBezTo>
                <a:cubicBezTo>
                  <a:pt x="406400" y="68263"/>
                  <a:pt x="315383" y="0"/>
                  <a:pt x="203200" y="0"/>
                </a:cubicBezTo>
                <a:cubicBezTo>
                  <a:pt x="91017" y="0"/>
                  <a:pt x="0" y="68263"/>
                  <a:pt x="0" y="152400"/>
                </a:cubicBezTo>
                <a:cubicBezTo>
                  <a:pt x="0" y="193040"/>
                  <a:pt x="21167" y="229949"/>
                  <a:pt x="55774" y="257254"/>
                </a:cubicBezTo>
                <a:cubicBezTo>
                  <a:pt x="73237" y="271066"/>
                  <a:pt x="88794" y="287099"/>
                  <a:pt x="96414" y="304800"/>
                </a:cubicBezTo>
                <a:lnTo>
                  <a:pt x="309880" y="304800"/>
                </a:lnTo>
                <a:close/>
                <a:moveTo>
                  <a:pt x="304800" y="342900"/>
                </a:moveTo>
                <a:lnTo>
                  <a:pt x="101600" y="342900"/>
                </a:lnTo>
                <a:lnTo>
                  <a:pt x="101600" y="355600"/>
                </a:lnTo>
                <a:cubicBezTo>
                  <a:pt x="101600" y="390684"/>
                  <a:pt x="139488" y="419100"/>
                  <a:pt x="186267" y="419100"/>
                </a:cubicBezTo>
                <a:lnTo>
                  <a:pt x="220133" y="419100"/>
                </a:lnTo>
                <a:cubicBezTo>
                  <a:pt x="266912" y="419100"/>
                  <a:pt x="304800" y="390684"/>
                  <a:pt x="304800" y="355600"/>
                </a:cubicBezTo>
                <a:lnTo>
                  <a:pt x="304800" y="342900"/>
                </a:lnTo>
                <a:close/>
                <a:moveTo>
                  <a:pt x="194733" y="88900"/>
                </a:moveTo>
                <a:cubicBezTo>
                  <a:pt x="152612" y="88900"/>
                  <a:pt x="118533" y="114459"/>
                  <a:pt x="118533" y="146050"/>
                </a:cubicBezTo>
                <a:cubicBezTo>
                  <a:pt x="118533" y="156607"/>
                  <a:pt x="107209" y="165100"/>
                  <a:pt x="93133" y="165100"/>
                </a:cubicBezTo>
                <a:cubicBezTo>
                  <a:pt x="79058" y="165100"/>
                  <a:pt x="67733" y="156607"/>
                  <a:pt x="67733" y="146050"/>
                </a:cubicBezTo>
                <a:cubicBezTo>
                  <a:pt x="67733" y="93424"/>
                  <a:pt x="124566" y="50800"/>
                  <a:pt x="194733" y="50800"/>
                </a:cubicBezTo>
                <a:cubicBezTo>
                  <a:pt x="208809" y="50800"/>
                  <a:pt x="220133" y="59293"/>
                  <a:pt x="220133" y="69850"/>
                </a:cubicBezTo>
                <a:cubicBezTo>
                  <a:pt x="220133" y="80407"/>
                  <a:pt x="208809" y="88900"/>
                  <a:pt x="194733" y="88900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51000" y="5588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51000" y="5969000"/>
            <a:ext cx="1346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need for an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AI-driven, automated candidate-job matching solution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transform the recruitment landscape.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Importance of the Problem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048500" cy="14605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16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87500" y="17526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Organizational Impact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87500" y="2159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Hiring directly impacts organizational productivity and performance.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45500" y="1524000"/>
            <a:ext cx="7048500" cy="14605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99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71000" y="17526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&amp; Cost Inefficiency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71000" y="2159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Inefficient hiring increases time-to-hire and operational costs significantly.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302000"/>
            <a:ext cx="7048500" cy="14605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6000" y="355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8928" y="-19764"/>
                </a:moveTo>
                <a:cubicBezTo>
                  <a:pt x="22296" y="-27226"/>
                  <a:pt x="11571" y="-27226"/>
                  <a:pt x="5009" y="-19764"/>
                </a:cubicBezTo>
                <a:cubicBezTo>
                  <a:pt x="-1552" y="-12303"/>
                  <a:pt x="-1623" y="-238"/>
                  <a:pt x="4939" y="7223"/>
                </a:cubicBezTo>
                <a:lnTo>
                  <a:pt x="377472" y="426323"/>
                </a:lnTo>
                <a:cubicBezTo>
                  <a:pt x="384104" y="433784"/>
                  <a:pt x="394829" y="433784"/>
                  <a:pt x="401391" y="426323"/>
                </a:cubicBezTo>
                <a:cubicBezTo>
                  <a:pt x="407952" y="418862"/>
                  <a:pt x="408023" y="406797"/>
                  <a:pt x="401391" y="399415"/>
                </a:cubicBezTo>
                <a:lnTo>
                  <a:pt x="219781" y="195024"/>
                </a:lnTo>
                <a:cubicBezTo>
                  <a:pt x="258586" y="186373"/>
                  <a:pt x="287867" y="147796"/>
                  <a:pt x="287867" y="101600"/>
                </a:cubicBezTo>
                <a:cubicBezTo>
                  <a:pt x="287867" y="48974"/>
                  <a:pt x="249978" y="6350"/>
                  <a:pt x="203200" y="6350"/>
                </a:cubicBezTo>
                <a:cubicBezTo>
                  <a:pt x="162137" y="6350"/>
                  <a:pt x="127847" y="39291"/>
                  <a:pt x="120156" y="82947"/>
                </a:cubicBezTo>
                <a:lnTo>
                  <a:pt x="28928" y="-19764"/>
                </a:lnTo>
                <a:close/>
                <a:moveTo>
                  <a:pt x="166229" y="242411"/>
                </a:moveTo>
                <a:cubicBezTo>
                  <a:pt x="104352" y="251301"/>
                  <a:pt x="56444" y="310753"/>
                  <a:pt x="56444" y="382826"/>
                </a:cubicBezTo>
                <a:cubicBezTo>
                  <a:pt x="56444" y="395843"/>
                  <a:pt x="65828" y="406400"/>
                  <a:pt x="77399" y="406400"/>
                </a:cubicBezTo>
                <a:lnTo>
                  <a:pt x="311997" y="406400"/>
                </a:lnTo>
                <a:lnTo>
                  <a:pt x="166229" y="242411"/>
                </a:ln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87500" y="35306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Bias &amp; Inaccuracy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87500" y="3937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processes introduce human bias and reduce accuracy in candidate selection.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45500" y="3302000"/>
            <a:ext cx="7048500" cy="14605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99500" y="355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43840" y="25400"/>
                </a:moveTo>
                <a:lnTo>
                  <a:pt x="325120" y="25400"/>
                </a:lnTo>
                <a:cubicBezTo>
                  <a:pt x="336360" y="25400"/>
                  <a:pt x="345440" y="36751"/>
                  <a:pt x="345440" y="50800"/>
                </a:cubicBezTo>
                <a:cubicBezTo>
                  <a:pt x="345440" y="64849"/>
                  <a:pt x="336360" y="76200"/>
                  <a:pt x="325120" y="76200"/>
                </a:cubicBezTo>
                <a:lnTo>
                  <a:pt x="252984" y="76200"/>
                </a:lnTo>
                <a:cubicBezTo>
                  <a:pt x="249682" y="96679"/>
                  <a:pt x="238443" y="113586"/>
                  <a:pt x="223520" y="121682"/>
                </a:cubicBezTo>
                <a:lnTo>
                  <a:pt x="223520" y="355600"/>
                </a:lnTo>
                <a:lnTo>
                  <a:pt x="325120" y="355600"/>
                </a:lnTo>
                <a:cubicBezTo>
                  <a:pt x="336360" y="355600"/>
                  <a:pt x="345440" y="366951"/>
                  <a:pt x="345440" y="381000"/>
                </a:cubicBezTo>
                <a:cubicBezTo>
                  <a:pt x="345440" y="395049"/>
                  <a:pt x="336360" y="406400"/>
                  <a:pt x="325120" y="406400"/>
                </a:cubicBezTo>
                <a:lnTo>
                  <a:pt x="81280" y="406400"/>
                </a:lnTo>
                <a:cubicBezTo>
                  <a:pt x="70041" y="406400"/>
                  <a:pt x="60960" y="395049"/>
                  <a:pt x="60960" y="381000"/>
                </a:cubicBezTo>
                <a:cubicBezTo>
                  <a:pt x="60960" y="366951"/>
                  <a:pt x="70041" y="355600"/>
                  <a:pt x="81280" y="355600"/>
                </a:cubicBezTo>
                <a:lnTo>
                  <a:pt x="182880" y="355600"/>
                </a:lnTo>
                <a:lnTo>
                  <a:pt x="182880" y="121682"/>
                </a:lnTo>
                <a:cubicBezTo>
                  <a:pt x="167958" y="113506"/>
                  <a:pt x="156718" y="96599"/>
                  <a:pt x="153416" y="76200"/>
                </a:cubicBezTo>
                <a:lnTo>
                  <a:pt x="81280" y="76200"/>
                </a:lnTo>
                <a:cubicBezTo>
                  <a:pt x="70041" y="76200"/>
                  <a:pt x="60960" y="64849"/>
                  <a:pt x="60960" y="50800"/>
                </a:cubicBezTo>
                <a:cubicBezTo>
                  <a:pt x="60960" y="36751"/>
                  <a:pt x="70041" y="25400"/>
                  <a:pt x="81280" y="25400"/>
                </a:cubicBezTo>
                <a:lnTo>
                  <a:pt x="162560" y="25400"/>
                </a:lnTo>
                <a:cubicBezTo>
                  <a:pt x="171831" y="10001"/>
                  <a:pt x="186563" y="0"/>
                  <a:pt x="203200" y="0"/>
                </a:cubicBezTo>
                <a:cubicBezTo>
                  <a:pt x="219837" y="0"/>
                  <a:pt x="234569" y="10001"/>
                  <a:pt x="243840" y="25400"/>
                </a:cubicBezTo>
                <a:close/>
                <a:moveTo>
                  <a:pt x="279146" y="254000"/>
                </a:moveTo>
                <a:lnTo>
                  <a:pt x="371094" y="254000"/>
                </a:lnTo>
                <a:lnTo>
                  <a:pt x="325120" y="155416"/>
                </a:lnTo>
                <a:lnTo>
                  <a:pt x="279146" y="254000"/>
                </a:lnTo>
                <a:close/>
                <a:moveTo>
                  <a:pt x="325120" y="330200"/>
                </a:moveTo>
                <a:cubicBezTo>
                  <a:pt x="285179" y="330200"/>
                  <a:pt x="251968" y="303213"/>
                  <a:pt x="245110" y="267573"/>
                </a:cubicBezTo>
                <a:cubicBezTo>
                  <a:pt x="243459" y="258842"/>
                  <a:pt x="245745" y="249873"/>
                  <a:pt x="249365" y="242094"/>
                </a:cubicBezTo>
                <a:lnTo>
                  <a:pt x="309817" y="112554"/>
                </a:lnTo>
                <a:cubicBezTo>
                  <a:pt x="312992" y="105728"/>
                  <a:pt x="318834" y="101600"/>
                  <a:pt x="325120" y="101600"/>
                </a:cubicBezTo>
                <a:cubicBezTo>
                  <a:pt x="331407" y="101600"/>
                  <a:pt x="337249" y="105807"/>
                  <a:pt x="340424" y="112554"/>
                </a:cubicBezTo>
                <a:lnTo>
                  <a:pt x="400876" y="242094"/>
                </a:lnTo>
                <a:cubicBezTo>
                  <a:pt x="404495" y="249873"/>
                  <a:pt x="406781" y="258842"/>
                  <a:pt x="405130" y="267573"/>
                </a:cubicBezTo>
                <a:cubicBezTo>
                  <a:pt x="398272" y="303133"/>
                  <a:pt x="365062" y="330200"/>
                  <a:pt x="325120" y="330200"/>
                </a:cubicBezTo>
                <a:close/>
                <a:moveTo>
                  <a:pt x="80518" y="155416"/>
                </a:moveTo>
                <a:lnTo>
                  <a:pt x="34544" y="254000"/>
                </a:lnTo>
                <a:lnTo>
                  <a:pt x="126556" y="254000"/>
                </a:lnTo>
                <a:lnTo>
                  <a:pt x="80518" y="155416"/>
                </a:lnTo>
                <a:close/>
                <a:moveTo>
                  <a:pt x="572" y="267573"/>
                </a:moveTo>
                <a:cubicBezTo>
                  <a:pt x="-1080" y="258842"/>
                  <a:pt x="1207" y="249873"/>
                  <a:pt x="4826" y="242094"/>
                </a:cubicBezTo>
                <a:lnTo>
                  <a:pt x="65278" y="112554"/>
                </a:lnTo>
                <a:cubicBezTo>
                  <a:pt x="68453" y="105728"/>
                  <a:pt x="74295" y="101600"/>
                  <a:pt x="80582" y="101600"/>
                </a:cubicBezTo>
                <a:cubicBezTo>
                  <a:pt x="86868" y="101600"/>
                  <a:pt x="92710" y="105807"/>
                  <a:pt x="95885" y="112554"/>
                </a:cubicBezTo>
                <a:lnTo>
                  <a:pt x="156337" y="242094"/>
                </a:lnTo>
                <a:cubicBezTo>
                  <a:pt x="159957" y="249873"/>
                  <a:pt x="162243" y="258842"/>
                  <a:pt x="160592" y="267573"/>
                </a:cubicBezTo>
                <a:cubicBezTo>
                  <a:pt x="153733" y="303133"/>
                  <a:pt x="120523" y="330200"/>
                  <a:pt x="80582" y="330200"/>
                </a:cubicBezTo>
                <a:cubicBezTo>
                  <a:pt x="40640" y="330200"/>
                  <a:pt x="7429" y="303213"/>
                  <a:pt x="572" y="267573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71000" y="35306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for Transparency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71000" y="3937000"/>
            <a:ext cx="596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intelligent, data-driven system improves transparency and fairness in hiring.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16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1625600"/>
            <a:ext cx="203200" cy="203200"/>
          </a:xfrm>
          <a:prstGeom prst="ellipse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70000" y="1460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screening and keyword-based filtering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Current recruitment systems rely on outdated methods that miss qualified candidates.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2514600"/>
            <a:ext cx="203200" cy="203200"/>
          </a:xfrm>
          <a:prstGeom prst="ellipse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70000" y="2349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of intelligent matching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Unsuitable candidate recommendations waste time for both recruiters and applicants.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403600"/>
            <a:ext cx="203200" cy="2032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70000" y="3238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Increased recruiter workload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Reviewing large applicant volumes manually leads to fatigue and suboptimal decisions.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292600"/>
            <a:ext cx="203200" cy="2032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70000" y="41275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for scalable solutions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Organizations require faster, more accurate, and scalable hiring systems.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334000"/>
            <a:ext cx="14732000" cy="1270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79500" y="5524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NEED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79500" y="586740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recruitment platform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automates candidate evaluation, reduces bias, and delivers intelligent job-candidate matching at scale.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 Objective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14732000" cy="19685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1651000"/>
            <a:ext cx="13970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an </a:t>
            </a:r>
            <a:r>
              <a:rPr lang="en-US" sz="2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recruitment platform</a:t>
            </a: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enhances hiring through intelligent candidate-job matching, automates evaluation to reduce manual effort and bias, and provides a unified, end-to-end digital recruitment experience.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62000" y="3746500"/>
            <a:ext cx="4572000" cy="2286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6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074" y="-24110"/>
                </a:moveTo>
                <a:lnTo>
                  <a:pt x="220821" y="8751"/>
                </a:lnTo>
                <a:lnTo>
                  <a:pt x="250031" y="21967"/>
                </a:lnTo>
                <a:cubicBezTo>
                  <a:pt x="252413" y="23039"/>
                  <a:pt x="254000" y="25718"/>
                  <a:pt x="254000" y="28575"/>
                </a:cubicBezTo>
                <a:cubicBezTo>
                  <a:pt x="254000" y="31433"/>
                  <a:pt x="252413" y="34111"/>
                  <a:pt x="250031" y="35183"/>
                </a:cubicBezTo>
                <a:lnTo>
                  <a:pt x="220821" y="48399"/>
                </a:lnTo>
                <a:lnTo>
                  <a:pt x="209074" y="81260"/>
                </a:lnTo>
                <a:cubicBezTo>
                  <a:pt x="208121" y="83939"/>
                  <a:pt x="205740" y="85725"/>
                  <a:pt x="203200" y="85725"/>
                </a:cubicBezTo>
                <a:cubicBezTo>
                  <a:pt x="200660" y="85725"/>
                  <a:pt x="198279" y="83939"/>
                  <a:pt x="197326" y="81260"/>
                </a:cubicBezTo>
                <a:lnTo>
                  <a:pt x="185579" y="48399"/>
                </a:lnTo>
                <a:lnTo>
                  <a:pt x="156369" y="35183"/>
                </a:lnTo>
                <a:cubicBezTo>
                  <a:pt x="153988" y="34111"/>
                  <a:pt x="152400" y="31432"/>
                  <a:pt x="152400" y="28575"/>
                </a:cubicBezTo>
                <a:cubicBezTo>
                  <a:pt x="152400" y="25718"/>
                  <a:pt x="153988" y="23039"/>
                  <a:pt x="156369" y="21967"/>
                </a:cubicBezTo>
                <a:lnTo>
                  <a:pt x="185579" y="8751"/>
                </a:lnTo>
                <a:lnTo>
                  <a:pt x="197326" y="-24110"/>
                </a:lnTo>
                <a:cubicBezTo>
                  <a:pt x="198279" y="-26789"/>
                  <a:pt x="200660" y="-28575"/>
                  <a:pt x="203200" y="-28575"/>
                </a:cubicBezTo>
                <a:cubicBezTo>
                  <a:pt x="205740" y="-28575"/>
                  <a:pt x="208121" y="-26789"/>
                  <a:pt x="209074" y="-24110"/>
                </a:cubicBezTo>
                <a:close/>
                <a:moveTo>
                  <a:pt x="87868" y="37237"/>
                </a:moveTo>
                <a:lnTo>
                  <a:pt x="104934" y="81975"/>
                </a:lnTo>
                <a:lnTo>
                  <a:pt x="144701" y="101173"/>
                </a:lnTo>
                <a:cubicBezTo>
                  <a:pt x="149384" y="103406"/>
                  <a:pt x="152400" y="108585"/>
                  <a:pt x="152400" y="114300"/>
                </a:cubicBezTo>
                <a:cubicBezTo>
                  <a:pt x="152400" y="120015"/>
                  <a:pt x="149384" y="125194"/>
                  <a:pt x="144701" y="127427"/>
                </a:cubicBezTo>
                <a:lnTo>
                  <a:pt x="104934" y="146625"/>
                </a:lnTo>
                <a:lnTo>
                  <a:pt x="87868" y="191363"/>
                </a:lnTo>
                <a:cubicBezTo>
                  <a:pt x="85884" y="196632"/>
                  <a:pt x="81280" y="200025"/>
                  <a:pt x="76200" y="200025"/>
                </a:cubicBezTo>
                <a:cubicBezTo>
                  <a:pt x="71120" y="200025"/>
                  <a:pt x="66516" y="196632"/>
                  <a:pt x="64532" y="191363"/>
                </a:cubicBezTo>
                <a:lnTo>
                  <a:pt x="47466" y="146625"/>
                </a:lnTo>
                <a:lnTo>
                  <a:pt x="7699" y="127427"/>
                </a:lnTo>
                <a:cubicBezTo>
                  <a:pt x="3016" y="125194"/>
                  <a:pt x="0" y="120015"/>
                  <a:pt x="0" y="114300"/>
                </a:cubicBezTo>
                <a:cubicBezTo>
                  <a:pt x="0" y="108585"/>
                  <a:pt x="3016" y="103406"/>
                  <a:pt x="7699" y="101173"/>
                </a:cubicBezTo>
                <a:lnTo>
                  <a:pt x="47466" y="81975"/>
                </a:lnTo>
                <a:lnTo>
                  <a:pt x="64532" y="37237"/>
                </a:lnTo>
                <a:cubicBezTo>
                  <a:pt x="66516" y="31968"/>
                  <a:pt x="71120" y="28575"/>
                  <a:pt x="76200" y="28575"/>
                </a:cubicBezTo>
                <a:cubicBezTo>
                  <a:pt x="81280" y="28575"/>
                  <a:pt x="85884" y="31968"/>
                  <a:pt x="87868" y="37237"/>
                </a:cubicBezTo>
                <a:close/>
                <a:moveTo>
                  <a:pt x="368300" y="271463"/>
                </a:moveTo>
                <a:cubicBezTo>
                  <a:pt x="373380" y="271463"/>
                  <a:pt x="377984" y="274856"/>
                  <a:pt x="379968" y="280124"/>
                </a:cubicBezTo>
                <a:lnTo>
                  <a:pt x="397034" y="324862"/>
                </a:lnTo>
                <a:lnTo>
                  <a:pt x="436801" y="344061"/>
                </a:lnTo>
                <a:cubicBezTo>
                  <a:pt x="441484" y="346293"/>
                  <a:pt x="444500" y="351473"/>
                  <a:pt x="444500" y="357188"/>
                </a:cubicBezTo>
                <a:cubicBezTo>
                  <a:pt x="444500" y="362903"/>
                  <a:pt x="441484" y="368082"/>
                  <a:pt x="436801" y="370314"/>
                </a:cubicBezTo>
                <a:lnTo>
                  <a:pt x="397034" y="389513"/>
                </a:lnTo>
                <a:lnTo>
                  <a:pt x="379968" y="434251"/>
                </a:lnTo>
                <a:cubicBezTo>
                  <a:pt x="377984" y="439519"/>
                  <a:pt x="373380" y="442913"/>
                  <a:pt x="368300" y="442913"/>
                </a:cubicBezTo>
                <a:cubicBezTo>
                  <a:pt x="363220" y="442913"/>
                  <a:pt x="358616" y="439519"/>
                  <a:pt x="356632" y="434251"/>
                </a:cubicBezTo>
                <a:lnTo>
                  <a:pt x="339566" y="389513"/>
                </a:lnTo>
                <a:lnTo>
                  <a:pt x="299799" y="370314"/>
                </a:lnTo>
                <a:cubicBezTo>
                  <a:pt x="295116" y="368082"/>
                  <a:pt x="292100" y="362903"/>
                  <a:pt x="292100" y="357188"/>
                </a:cubicBezTo>
                <a:cubicBezTo>
                  <a:pt x="292100" y="351473"/>
                  <a:pt x="295116" y="346293"/>
                  <a:pt x="299799" y="344061"/>
                </a:cubicBezTo>
                <a:lnTo>
                  <a:pt x="339566" y="324862"/>
                </a:lnTo>
                <a:lnTo>
                  <a:pt x="356632" y="280124"/>
                </a:lnTo>
                <a:cubicBezTo>
                  <a:pt x="358616" y="274856"/>
                  <a:pt x="363220" y="271463"/>
                  <a:pt x="368300" y="271463"/>
                </a:cubicBezTo>
                <a:close/>
                <a:moveTo>
                  <a:pt x="365125" y="0"/>
                </a:moveTo>
                <a:cubicBezTo>
                  <a:pt x="373856" y="0"/>
                  <a:pt x="382270" y="3929"/>
                  <a:pt x="388541" y="10894"/>
                </a:cubicBezTo>
                <a:lnTo>
                  <a:pt x="422116" y="48667"/>
                </a:lnTo>
                <a:cubicBezTo>
                  <a:pt x="428308" y="55721"/>
                  <a:pt x="431800" y="65187"/>
                  <a:pt x="431800" y="75009"/>
                </a:cubicBezTo>
                <a:cubicBezTo>
                  <a:pt x="431800" y="84832"/>
                  <a:pt x="428308" y="94298"/>
                  <a:pt x="422116" y="101352"/>
                </a:cubicBezTo>
                <a:lnTo>
                  <a:pt x="352107" y="180112"/>
                </a:lnTo>
                <a:lnTo>
                  <a:pt x="271701" y="89654"/>
                </a:lnTo>
                <a:lnTo>
                  <a:pt x="341709" y="10894"/>
                </a:lnTo>
                <a:cubicBezTo>
                  <a:pt x="347980" y="3929"/>
                  <a:pt x="356394" y="0"/>
                  <a:pt x="365125" y="0"/>
                </a:cubicBezTo>
                <a:close/>
                <a:moveTo>
                  <a:pt x="35084" y="355848"/>
                </a:moveTo>
                <a:lnTo>
                  <a:pt x="244793" y="119926"/>
                </a:lnTo>
                <a:lnTo>
                  <a:pt x="325199" y="210383"/>
                </a:lnTo>
                <a:lnTo>
                  <a:pt x="115491" y="446306"/>
                </a:lnTo>
                <a:cubicBezTo>
                  <a:pt x="109220" y="453271"/>
                  <a:pt x="100806" y="457200"/>
                  <a:pt x="92075" y="457200"/>
                </a:cubicBezTo>
                <a:cubicBezTo>
                  <a:pt x="83344" y="457200"/>
                  <a:pt x="74930" y="453271"/>
                  <a:pt x="68659" y="446306"/>
                </a:cubicBezTo>
                <a:lnTo>
                  <a:pt x="35084" y="408533"/>
                </a:lnTo>
                <a:cubicBezTo>
                  <a:pt x="28893" y="401479"/>
                  <a:pt x="25400" y="392013"/>
                  <a:pt x="25400" y="382191"/>
                </a:cubicBezTo>
                <a:cubicBezTo>
                  <a:pt x="25400" y="372368"/>
                  <a:pt x="28893" y="362903"/>
                  <a:pt x="35084" y="355848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6000" y="457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Matching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16000" y="49784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AI-driven candidate-job matching for enhanced hiring accuracy.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42000" y="3746500"/>
            <a:ext cx="4572000" cy="2286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96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7109" y="187970"/>
                </a:moveTo>
                <a:cubicBezTo>
                  <a:pt x="305824" y="185023"/>
                  <a:pt x="314968" y="190202"/>
                  <a:pt x="318897" y="200293"/>
                </a:cubicBezTo>
                <a:lnTo>
                  <a:pt x="332184" y="233869"/>
                </a:lnTo>
                <a:cubicBezTo>
                  <a:pt x="339542" y="235119"/>
                  <a:pt x="346758" y="237619"/>
                  <a:pt x="353544" y="241102"/>
                </a:cubicBezTo>
                <a:lnTo>
                  <a:pt x="378547" y="220295"/>
                </a:lnTo>
                <a:cubicBezTo>
                  <a:pt x="386048" y="214045"/>
                  <a:pt x="395978" y="215295"/>
                  <a:pt x="402336" y="223242"/>
                </a:cubicBezTo>
                <a:lnTo>
                  <a:pt x="416052" y="240387"/>
                </a:lnTo>
                <a:cubicBezTo>
                  <a:pt x="422410" y="248335"/>
                  <a:pt x="423410" y="260836"/>
                  <a:pt x="418409" y="270123"/>
                </a:cubicBezTo>
                <a:lnTo>
                  <a:pt x="401765" y="301288"/>
                </a:lnTo>
                <a:cubicBezTo>
                  <a:pt x="403122" y="305485"/>
                  <a:pt x="404336" y="309860"/>
                  <a:pt x="405336" y="314414"/>
                </a:cubicBezTo>
                <a:cubicBezTo>
                  <a:pt x="406336" y="318968"/>
                  <a:pt x="406979" y="323433"/>
                  <a:pt x="407480" y="327987"/>
                </a:cubicBezTo>
                <a:lnTo>
                  <a:pt x="434411" y="344597"/>
                </a:lnTo>
                <a:cubicBezTo>
                  <a:pt x="442484" y="349597"/>
                  <a:pt x="446627" y="361027"/>
                  <a:pt x="444270" y="371832"/>
                </a:cubicBezTo>
                <a:lnTo>
                  <a:pt x="439269" y="395228"/>
                </a:lnTo>
                <a:cubicBezTo>
                  <a:pt x="436912" y="406033"/>
                  <a:pt x="428839" y="413355"/>
                  <a:pt x="419838" y="412641"/>
                </a:cubicBezTo>
                <a:lnTo>
                  <a:pt x="389834" y="410230"/>
                </a:lnTo>
                <a:cubicBezTo>
                  <a:pt x="385334" y="417463"/>
                  <a:pt x="380119" y="424160"/>
                  <a:pt x="374190" y="429875"/>
                </a:cubicBezTo>
                <a:lnTo>
                  <a:pt x="376118" y="467291"/>
                </a:lnTo>
                <a:cubicBezTo>
                  <a:pt x="376690" y="478542"/>
                  <a:pt x="370832" y="488722"/>
                  <a:pt x="362188" y="491579"/>
                </a:cubicBezTo>
                <a:lnTo>
                  <a:pt x="343472" y="497830"/>
                </a:lnTo>
                <a:cubicBezTo>
                  <a:pt x="334756" y="500777"/>
                  <a:pt x="325684" y="495598"/>
                  <a:pt x="321683" y="485507"/>
                </a:cubicBezTo>
                <a:lnTo>
                  <a:pt x="308396" y="451931"/>
                </a:lnTo>
                <a:cubicBezTo>
                  <a:pt x="301038" y="450681"/>
                  <a:pt x="293822" y="448181"/>
                  <a:pt x="287036" y="444698"/>
                </a:cubicBezTo>
                <a:lnTo>
                  <a:pt x="262033" y="465505"/>
                </a:lnTo>
                <a:cubicBezTo>
                  <a:pt x="254532" y="471755"/>
                  <a:pt x="244602" y="470505"/>
                  <a:pt x="238244" y="462558"/>
                </a:cubicBezTo>
                <a:lnTo>
                  <a:pt x="224528" y="445413"/>
                </a:lnTo>
                <a:cubicBezTo>
                  <a:pt x="218170" y="437465"/>
                  <a:pt x="217170" y="425053"/>
                  <a:pt x="222171" y="415677"/>
                </a:cubicBezTo>
                <a:lnTo>
                  <a:pt x="238816" y="384423"/>
                </a:lnTo>
                <a:cubicBezTo>
                  <a:pt x="237458" y="380226"/>
                  <a:pt x="236244" y="375851"/>
                  <a:pt x="235244" y="371296"/>
                </a:cubicBezTo>
                <a:cubicBezTo>
                  <a:pt x="234244" y="366742"/>
                  <a:pt x="233601" y="362188"/>
                  <a:pt x="233101" y="357723"/>
                </a:cubicBezTo>
                <a:lnTo>
                  <a:pt x="206169" y="341114"/>
                </a:lnTo>
                <a:cubicBezTo>
                  <a:pt x="198096" y="336113"/>
                  <a:pt x="194024" y="324683"/>
                  <a:pt x="196310" y="313879"/>
                </a:cubicBezTo>
                <a:lnTo>
                  <a:pt x="201311" y="290483"/>
                </a:lnTo>
                <a:cubicBezTo>
                  <a:pt x="203668" y="279678"/>
                  <a:pt x="211741" y="272355"/>
                  <a:pt x="220742" y="273070"/>
                </a:cubicBezTo>
                <a:lnTo>
                  <a:pt x="250674" y="275481"/>
                </a:lnTo>
                <a:cubicBezTo>
                  <a:pt x="255175" y="268248"/>
                  <a:pt x="260390" y="261551"/>
                  <a:pt x="266319" y="255836"/>
                </a:cubicBezTo>
                <a:lnTo>
                  <a:pt x="264390" y="218509"/>
                </a:lnTo>
                <a:cubicBezTo>
                  <a:pt x="263819" y="207258"/>
                  <a:pt x="269677" y="197078"/>
                  <a:pt x="278320" y="194221"/>
                </a:cubicBezTo>
                <a:lnTo>
                  <a:pt x="297037" y="187970"/>
                </a:lnTo>
                <a:close/>
                <a:moveTo>
                  <a:pt x="320326" y="303609"/>
                </a:moveTo>
                <a:cubicBezTo>
                  <a:pt x="302978" y="303634"/>
                  <a:pt x="288909" y="321260"/>
                  <a:pt x="288929" y="342945"/>
                </a:cubicBezTo>
                <a:cubicBezTo>
                  <a:pt x="288949" y="364630"/>
                  <a:pt x="303049" y="382215"/>
                  <a:pt x="320397" y="382191"/>
                </a:cubicBezTo>
                <a:cubicBezTo>
                  <a:pt x="337745" y="382166"/>
                  <a:pt x="351814" y="364540"/>
                  <a:pt x="351794" y="342855"/>
                </a:cubicBezTo>
                <a:cubicBezTo>
                  <a:pt x="351774" y="321170"/>
                  <a:pt x="337674" y="303585"/>
                  <a:pt x="320326" y="303609"/>
                </a:cubicBezTo>
                <a:close/>
                <a:moveTo>
                  <a:pt x="160663" y="-40630"/>
                </a:moveTo>
                <a:lnTo>
                  <a:pt x="179380" y="-34379"/>
                </a:lnTo>
                <a:cubicBezTo>
                  <a:pt x="188024" y="-31433"/>
                  <a:pt x="193881" y="-21253"/>
                  <a:pt x="193310" y="-10091"/>
                </a:cubicBezTo>
                <a:lnTo>
                  <a:pt x="191381" y="27236"/>
                </a:lnTo>
                <a:cubicBezTo>
                  <a:pt x="197310" y="32951"/>
                  <a:pt x="202525" y="39559"/>
                  <a:pt x="207026" y="46881"/>
                </a:cubicBezTo>
                <a:lnTo>
                  <a:pt x="237030" y="44470"/>
                </a:lnTo>
                <a:cubicBezTo>
                  <a:pt x="245959" y="43755"/>
                  <a:pt x="254103" y="51078"/>
                  <a:pt x="256461" y="61883"/>
                </a:cubicBezTo>
                <a:lnTo>
                  <a:pt x="261461" y="85279"/>
                </a:lnTo>
                <a:cubicBezTo>
                  <a:pt x="263747" y="96083"/>
                  <a:pt x="259675" y="107513"/>
                  <a:pt x="251603" y="112514"/>
                </a:cubicBezTo>
                <a:lnTo>
                  <a:pt x="224671" y="129123"/>
                </a:lnTo>
                <a:cubicBezTo>
                  <a:pt x="224171" y="133677"/>
                  <a:pt x="223457" y="138232"/>
                  <a:pt x="222528" y="142696"/>
                </a:cubicBezTo>
                <a:cubicBezTo>
                  <a:pt x="221599" y="147161"/>
                  <a:pt x="220313" y="151626"/>
                  <a:pt x="218956" y="155823"/>
                </a:cubicBezTo>
                <a:lnTo>
                  <a:pt x="235601" y="187077"/>
                </a:lnTo>
                <a:cubicBezTo>
                  <a:pt x="240602" y="196453"/>
                  <a:pt x="239601" y="208865"/>
                  <a:pt x="233243" y="216813"/>
                </a:cubicBezTo>
                <a:lnTo>
                  <a:pt x="219527" y="233958"/>
                </a:lnTo>
                <a:cubicBezTo>
                  <a:pt x="213170" y="241905"/>
                  <a:pt x="203240" y="243155"/>
                  <a:pt x="195739" y="236905"/>
                </a:cubicBezTo>
                <a:lnTo>
                  <a:pt x="170736" y="216098"/>
                </a:lnTo>
                <a:cubicBezTo>
                  <a:pt x="163949" y="219581"/>
                  <a:pt x="156734" y="222081"/>
                  <a:pt x="149376" y="223331"/>
                </a:cubicBezTo>
                <a:lnTo>
                  <a:pt x="136088" y="256907"/>
                </a:lnTo>
                <a:cubicBezTo>
                  <a:pt x="132088" y="266998"/>
                  <a:pt x="122944" y="272088"/>
                  <a:pt x="114300" y="269230"/>
                </a:cubicBezTo>
                <a:lnTo>
                  <a:pt x="95583" y="262979"/>
                </a:lnTo>
                <a:cubicBezTo>
                  <a:pt x="86868" y="260033"/>
                  <a:pt x="81082" y="249853"/>
                  <a:pt x="81653" y="238691"/>
                </a:cubicBezTo>
                <a:lnTo>
                  <a:pt x="83582" y="201275"/>
                </a:lnTo>
                <a:cubicBezTo>
                  <a:pt x="77653" y="195560"/>
                  <a:pt x="72438" y="188952"/>
                  <a:pt x="67937" y="181630"/>
                </a:cubicBezTo>
                <a:lnTo>
                  <a:pt x="37933" y="184041"/>
                </a:lnTo>
                <a:cubicBezTo>
                  <a:pt x="29004" y="184755"/>
                  <a:pt x="20860" y="177433"/>
                  <a:pt x="18502" y="166628"/>
                </a:cubicBezTo>
                <a:lnTo>
                  <a:pt x="13502" y="143232"/>
                </a:lnTo>
                <a:cubicBezTo>
                  <a:pt x="11216" y="132427"/>
                  <a:pt x="15288" y="120997"/>
                  <a:pt x="23360" y="115997"/>
                </a:cubicBezTo>
                <a:lnTo>
                  <a:pt x="50292" y="99387"/>
                </a:lnTo>
                <a:cubicBezTo>
                  <a:pt x="50792" y="94833"/>
                  <a:pt x="51506" y="90368"/>
                  <a:pt x="52435" y="85814"/>
                </a:cubicBezTo>
                <a:cubicBezTo>
                  <a:pt x="53435" y="81260"/>
                  <a:pt x="54578" y="76885"/>
                  <a:pt x="56007" y="72688"/>
                </a:cubicBezTo>
                <a:lnTo>
                  <a:pt x="39362" y="41523"/>
                </a:lnTo>
                <a:cubicBezTo>
                  <a:pt x="34361" y="32147"/>
                  <a:pt x="35362" y="19735"/>
                  <a:pt x="41720" y="11787"/>
                </a:cubicBezTo>
                <a:lnTo>
                  <a:pt x="55436" y="-5358"/>
                </a:lnTo>
                <a:cubicBezTo>
                  <a:pt x="61793" y="-13305"/>
                  <a:pt x="71723" y="-14555"/>
                  <a:pt x="79224" y="-8305"/>
                </a:cubicBezTo>
                <a:lnTo>
                  <a:pt x="104227" y="12502"/>
                </a:lnTo>
                <a:cubicBezTo>
                  <a:pt x="111014" y="9019"/>
                  <a:pt x="118229" y="6519"/>
                  <a:pt x="125587" y="5269"/>
                </a:cubicBezTo>
                <a:lnTo>
                  <a:pt x="138874" y="-28307"/>
                </a:lnTo>
                <a:cubicBezTo>
                  <a:pt x="142875" y="-38398"/>
                  <a:pt x="151948" y="-43488"/>
                  <a:pt x="160663" y="-40630"/>
                </a:cubicBezTo>
                <a:close/>
                <a:moveTo>
                  <a:pt x="137446" y="75009"/>
                </a:moveTo>
                <a:cubicBezTo>
                  <a:pt x="120098" y="75009"/>
                  <a:pt x="106013" y="92615"/>
                  <a:pt x="106013" y="114300"/>
                </a:cubicBezTo>
                <a:cubicBezTo>
                  <a:pt x="106013" y="135985"/>
                  <a:pt x="120098" y="153591"/>
                  <a:pt x="137446" y="153591"/>
                </a:cubicBezTo>
                <a:cubicBezTo>
                  <a:pt x="154794" y="153591"/>
                  <a:pt x="168878" y="135985"/>
                  <a:pt x="168878" y="114300"/>
                </a:cubicBezTo>
                <a:cubicBezTo>
                  <a:pt x="168878" y="92615"/>
                  <a:pt x="154794" y="75009"/>
                  <a:pt x="137446" y="75009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96000" y="457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Evaluation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96000" y="49784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manual effort and eliminate bias in candidate screening.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22000" y="3746500"/>
            <a:ext cx="4572000" cy="2286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176000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615" y="4643"/>
                </a:moveTo>
                <a:cubicBezTo>
                  <a:pt x="220920" y="-1518"/>
                  <a:pt x="236280" y="-1518"/>
                  <a:pt x="249585" y="4643"/>
                </a:cubicBezTo>
                <a:lnTo>
                  <a:pt x="444788" y="94833"/>
                </a:lnTo>
                <a:cubicBezTo>
                  <a:pt x="452378" y="98316"/>
                  <a:pt x="457200" y="105906"/>
                  <a:pt x="457200" y="114300"/>
                </a:cubicBezTo>
                <a:cubicBezTo>
                  <a:pt x="457200" y="122694"/>
                  <a:pt x="452378" y="130284"/>
                  <a:pt x="444788" y="133767"/>
                </a:cubicBezTo>
                <a:lnTo>
                  <a:pt x="249585" y="223957"/>
                </a:lnTo>
                <a:cubicBezTo>
                  <a:pt x="236280" y="230118"/>
                  <a:pt x="220920" y="230118"/>
                  <a:pt x="207615" y="223957"/>
                </a:cubicBezTo>
                <a:lnTo>
                  <a:pt x="12412" y="133767"/>
                </a:lnTo>
                <a:cubicBezTo>
                  <a:pt x="4822" y="130195"/>
                  <a:pt x="0" y="122605"/>
                  <a:pt x="0" y="114300"/>
                </a:cubicBezTo>
                <a:cubicBezTo>
                  <a:pt x="0" y="105995"/>
                  <a:pt x="4822" y="98316"/>
                  <a:pt x="12412" y="94833"/>
                </a:cubicBezTo>
                <a:lnTo>
                  <a:pt x="207615" y="4643"/>
                </a:lnTo>
                <a:close/>
                <a:moveTo>
                  <a:pt x="42952" y="195024"/>
                </a:moveTo>
                <a:lnTo>
                  <a:pt x="189667" y="262801"/>
                </a:lnTo>
                <a:cubicBezTo>
                  <a:pt x="214402" y="274231"/>
                  <a:pt x="242888" y="274231"/>
                  <a:pt x="267623" y="262801"/>
                </a:cubicBezTo>
                <a:lnTo>
                  <a:pt x="414338" y="195024"/>
                </a:lnTo>
                <a:lnTo>
                  <a:pt x="444788" y="209133"/>
                </a:lnTo>
                <a:cubicBezTo>
                  <a:pt x="452378" y="212616"/>
                  <a:pt x="457200" y="220206"/>
                  <a:pt x="457200" y="228600"/>
                </a:cubicBezTo>
                <a:cubicBezTo>
                  <a:pt x="457200" y="236994"/>
                  <a:pt x="452378" y="244584"/>
                  <a:pt x="444788" y="248067"/>
                </a:cubicBezTo>
                <a:lnTo>
                  <a:pt x="249585" y="338257"/>
                </a:lnTo>
                <a:cubicBezTo>
                  <a:pt x="236280" y="344418"/>
                  <a:pt x="220920" y="344418"/>
                  <a:pt x="207615" y="338257"/>
                </a:cubicBezTo>
                <a:lnTo>
                  <a:pt x="12412" y="248067"/>
                </a:lnTo>
                <a:cubicBezTo>
                  <a:pt x="4822" y="244495"/>
                  <a:pt x="0" y="236905"/>
                  <a:pt x="0" y="228600"/>
                </a:cubicBezTo>
                <a:cubicBezTo>
                  <a:pt x="0" y="220295"/>
                  <a:pt x="4822" y="212616"/>
                  <a:pt x="12412" y="209133"/>
                </a:cubicBezTo>
                <a:lnTo>
                  <a:pt x="42863" y="195024"/>
                </a:lnTo>
                <a:close/>
                <a:moveTo>
                  <a:pt x="12412" y="323433"/>
                </a:moveTo>
                <a:lnTo>
                  <a:pt x="42863" y="309324"/>
                </a:lnTo>
                <a:lnTo>
                  <a:pt x="189577" y="377101"/>
                </a:lnTo>
                <a:cubicBezTo>
                  <a:pt x="214313" y="388531"/>
                  <a:pt x="242798" y="388531"/>
                  <a:pt x="267533" y="377101"/>
                </a:cubicBezTo>
                <a:lnTo>
                  <a:pt x="414248" y="309324"/>
                </a:lnTo>
                <a:lnTo>
                  <a:pt x="444698" y="323433"/>
                </a:lnTo>
                <a:cubicBezTo>
                  <a:pt x="452289" y="326916"/>
                  <a:pt x="457111" y="334506"/>
                  <a:pt x="457111" y="342900"/>
                </a:cubicBezTo>
                <a:cubicBezTo>
                  <a:pt x="457111" y="351294"/>
                  <a:pt x="452289" y="358884"/>
                  <a:pt x="444698" y="362367"/>
                </a:cubicBezTo>
                <a:lnTo>
                  <a:pt x="249495" y="452557"/>
                </a:lnTo>
                <a:cubicBezTo>
                  <a:pt x="236190" y="458718"/>
                  <a:pt x="220831" y="458718"/>
                  <a:pt x="207526" y="452557"/>
                </a:cubicBezTo>
                <a:lnTo>
                  <a:pt x="12412" y="362367"/>
                </a:lnTo>
                <a:cubicBezTo>
                  <a:pt x="4822" y="358795"/>
                  <a:pt x="0" y="351205"/>
                  <a:pt x="0" y="342900"/>
                </a:cubicBezTo>
                <a:cubicBezTo>
                  <a:pt x="0" y="334595"/>
                  <a:pt x="4822" y="326916"/>
                  <a:pt x="12412" y="323433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176000" y="45720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Unified Experience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176000" y="4978400"/>
            <a:ext cx="4064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digital recruitment platform in a single solution.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Objectives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558800" cy="5588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152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" y="1524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Dual-User System Design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98600" y="1905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both job seekers and recruiters with role-specific features.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524000"/>
            <a:ext cx="558800" cy="5588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82000" y="1524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18600" y="1524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User Profiling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18600" y="1905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CV parsing and personal data for rich candidate profiles.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2857500"/>
            <a:ext cx="558800" cy="5588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2000" y="2857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" y="2857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Matching Engine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98600" y="32385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intelligent candidate ranking based on skills and experience.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2857500"/>
            <a:ext cx="558800" cy="5588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82000" y="28575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18600" y="2857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 Assessment Integration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18600" y="32385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candidate competencies through integrated assessments.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4191000"/>
            <a:ext cx="558800" cy="5588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2000" y="4191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" y="41910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Interview System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498600" y="4572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streamlined recruiter-candidate communication channels.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Solutions: Traditional &amp; ATS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Recruitment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Applicant Tracking Systems (ATS)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64500" y="1460500"/>
            <a:ext cx="25400" cy="28575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2057400"/>
            <a:ext cx="152400" cy="15240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06500" y="1905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Manual, time-consuming processes prone to human bias.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2819400"/>
            <a:ext cx="152400" cy="15240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6500" y="2667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automation in candidate screening or evaluation.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534400" y="2057400"/>
            <a:ext cx="152400" cy="152400"/>
          </a:xfrm>
          <a:prstGeom prst="ellipse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826500" y="1905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 job postings and candidate tracking workflows.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34400" y="2819400"/>
            <a:ext cx="152400" cy="152400"/>
          </a:xfrm>
          <a:prstGeom prst="ellipse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826500" y="2667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systems rely mainly on keyword matching with limited accuracy.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34400" y="3581400"/>
            <a:ext cx="152400" cy="1524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826500" y="3429000"/>
            <a:ext cx="660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implementation costs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remain a barrier for many organizations.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4445000"/>
            <a:ext cx="14732000" cy="1143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62000" y="4445000"/>
            <a:ext cx="50800" cy="1143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0160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98600" y="4673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Limitation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16000" y="5080000"/>
            <a:ext cx="1422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approaches fail to deliver intelligent, context-aware candidate-job matching.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Solutions: AI-Based &amp; Market Platforms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6000" y="1524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AI-based recruitment systems use </a:t>
            </a: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ML, NLP, and analytics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resume analysis and matching — but most cover only specific aspects.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540000"/>
            <a:ext cx="4572000" cy="2540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16000" y="276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7371" y="25400"/>
                </a:moveTo>
                <a:lnTo>
                  <a:pt x="28938" y="25400"/>
                </a:lnTo>
                <a:cubicBezTo>
                  <a:pt x="12972" y="25400"/>
                  <a:pt x="0" y="36909"/>
                  <a:pt x="0" y="51038"/>
                </a:cubicBezTo>
                <a:lnTo>
                  <a:pt x="0" y="355362"/>
                </a:lnTo>
                <a:cubicBezTo>
                  <a:pt x="0" y="369491"/>
                  <a:pt x="12972" y="381000"/>
                  <a:pt x="28938" y="381000"/>
                </a:cubicBezTo>
                <a:lnTo>
                  <a:pt x="377371" y="381000"/>
                </a:lnTo>
                <a:cubicBezTo>
                  <a:pt x="393337" y="381000"/>
                  <a:pt x="406400" y="369491"/>
                  <a:pt x="406400" y="355362"/>
                </a:cubicBezTo>
                <a:lnTo>
                  <a:pt x="406400" y="51038"/>
                </a:lnTo>
                <a:cubicBezTo>
                  <a:pt x="406400" y="36909"/>
                  <a:pt x="393337" y="25400"/>
                  <a:pt x="377371" y="25400"/>
                </a:cubicBezTo>
                <a:close/>
                <a:moveTo>
                  <a:pt x="122827" y="330200"/>
                </a:moveTo>
                <a:lnTo>
                  <a:pt x="62593" y="330200"/>
                </a:lnTo>
                <a:lnTo>
                  <a:pt x="62593" y="160496"/>
                </a:lnTo>
                <a:lnTo>
                  <a:pt x="122918" y="160496"/>
                </a:lnTo>
                <a:lnTo>
                  <a:pt x="122918" y="330200"/>
                </a:lnTo>
                <a:lnTo>
                  <a:pt x="122827" y="330200"/>
                </a:lnTo>
                <a:close/>
                <a:moveTo>
                  <a:pt x="92710" y="76200"/>
                </a:moveTo>
                <a:cubicBezTo>
                  <a:pt x="111986" y="76200"/>
                  <a:pt x="127635" y="89893"/>
                  <a:pt x="127635" y="106759"/>
                </a:cubicBezTo>
                <a:cubicBezTo>
                  <a:pt x="127635" y="123626"/>
                  <a:pt x="111986" y="137319"/>
                  <a:pt x="92710" y="137319"/>
                </a:cubicBezTo>
                <a:cubicBezTo>
                  <a:pt x="73434" y="137319"/>
                  <a:pt x="57785" y="123626"/>
                  <a:pt x="57785" y="106759"/>
                </a:cubicBezTo>
                <a:cubicBezTo>
                  <a:pt x="57785" y="89893"/>
                  <a:pt x="73434" y="76200"/>
                  <a:pt x="92710" y="76200"/>
                </a:cubicBezTo>
                <a:close/>
                <a:moveTo>
                  <a:pt x="348615" y="330200"/>
                </a:moveTo>
                <a:lnTo>
                  <a:pt x="288381" y="330200"/>
                </a:lnTo>
                <a:lnTo>
                  <a:pt x="288381" y="247650"/>
                </a:lnTo>
                <a:cubicBezTo>
                  <a:pt x="288381" y="227965"/>
                  <a:pt x="287927" y="202644"/>
                  <a:pt x="257084" y="202644"/>
                </a:cubicBezTo>
                <a:cubicBezTo>
                  <a:pt x="225697" y="202644"/>
                  <a:pt x="220889" y="224076"/>
                  <a:pt x="220889" y="246221"/>
                </a:cubicBezTo>
                <a:lnTo>
                  <a:pt x="220889" y="330200"/>
                </a:lnTo>
                <a:lnTo>
                  <a:pt x="160655" y="330200"/>
                </a:lnTo>
                <a:lnTo>
                  <a:pt x="160655" y="160496"/>
                </a:lnTo>
                <a:lnTo>
                  <a:pt x="218440" y="160496"/>
                </a:lnTo>
                <a:lnTo>
                  <a:pt x="218440" y="183674"/>
                </a:lnTo>
                <a:lnTo>
                  <a:pt x="219256" y="183674"/>
                </a:lnTo>
                <a:cubicBezTo>
                  <a:pt x="227330" y="170339"/>
                  <a:pt x="247015" y="156289"/>
                  <a:pt x="276316" y="156289"/>
                </a:cubicBezTo>
                <a:cubicBezTo>
                  <a:pt x="337276" y="156289"/>
                  <a:pt x="348615" y="191452"/>
                  <a:pt x="348615" y="237172"/>
                </a:cubicBezTo>
                <a:lnTo>
                  <a:pt x="348615" y="330200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49400" y="2768600"/>
            <a:ext cx="3530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16000" y="3302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networking and job posting platform. Limited AI-driven candidate evaluation and matching depth.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42000" y="2540000"/>
            <a:ext cx="4572000" cy="2540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96000" y="276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58750" y="38100"/>
                </a:moveTo>
                <a:lnTo>
                  <a:pt x="247650" y="38100"/>
                </a:lnTo>
                <a:cubicBezTo>
                  <a:pt x="251142" y="38100"/>
                  <a:pt x="254000" y="40958"/>
                  <a:pt x="254000" y="44450"/>
                </a:cubicBezTo>
                <a:lnTo>
                  <a:pt x="254000" y="76200"/>
                </a:lnTo>
                <a:lnTo>
                  <a:pt x="152400" y="76200"/>
                </a:lnTo>
                <a:lnTo>
                  <a:pt x="152400" y="44450"/>
                </a:lnTo>
                <a:cubicBezTo>
                  <a:pt x="152400" y="40958"/>
                  <a:pt x="155258" y="38100"/>
                  <a:pt x="158750" y="38100"/>
                </a:cubicBezTo>
                <a:close/>
                <a:moveTo>
                  <a:pt x="114300" y="44450"/>
                </a:moveTo>
                <a:lnTo>
                  <a:pt x="114300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203200"/>
                </a:lnTo>
                <a:lnTo>
                  <a:pt x="406400" y="203200"/>
                </a:ln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2100" y="76200"/>
                </a:lnTo>
                <a:lnTo>
                  <a:pt x="292100" y="44450"/>
                </a:lnTo>
                <a:cubicBezTo>
                  <a:pt x="292100" y="19923"/>
                  <a:pt x="272177" y="0"/>
                  <a:pt x="247650" y="0"/>
                </a:cubicBezTo>
                <a:lnTo>
                  <a:pt x="158750" y="0"/>
                </a:lnTo>
                <a:cubicBezTo>
                  <a:pt x="134223" y="0"/>
                  <a:pt x="114300" y="19923"/>
                  <a:pt x="114300" y="44450"/>
                </a:cubicBezTo>
                <a:close/>
                <a:moveTo>
                  <a:pt x="406400" y="241300"/>
                </a:moveTo>
                <a:lnTo>
                  <a:pt x="254000" y="241300"/>
                </a:lnTo>
                <a:lnTo>
                  <a:pt x="254000" y="254000"/>
                </a:lnTo>
                <a:cubicBezTo>
                  <a:pt x="254000" y="268049"/>
                  <a:pt x="242649" y="279400"/>
                  <a:pt x="228600" y="279400"/>
                </a:cubicBezTo>
                <a:lnTo>
                  <a:pt x="177800" y="279400"/>
                </a:lnTo>
                <a:cubicBezTo>
                  <a:pt x="163751" y="279400"/>
                  <a:pt x="152400" y="268049"/>
                  <a:pt x="152400" y="254000"/>
                </a:cubicBezTo>
                <a:lnTo>
                  <a:pt x="152400" y="241300"/>
                </a:lnTo>
                <a:lnTo>
                  <a:pt x="0" y="241300"/>
                </a:ln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241300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629400" y="2768600"/>
            <a:ext cx="3530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Squadio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96000" y="3302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matching between companies and professionals. Focuses on specific talent segments.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922000" y="2540000"/>
            <a:ext cx="4572000" cy="2540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176000" y="276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520" y="0"/>
                </a:moveTo>
                <a:cubicBezTo>
                  <a:pt x="223520" y="-14049"/>
                  <a:pt x="214440" y="-25400"/>
                  <a:pt x="203200" y="-25400"/>
                </a:cubicBezTo>
                <a:cubicBezTo>
                  <a:pt x="191961" y="-25400"/>
                  <a:pt x="182880" y="-14049"/>
                  <a:pt x="182880" y="0"/>
                </a:cubicBezTo>
                <a:lnTo>
                  <a:pt x="182880" y="50800"/>
                </a:lnTo>
                <a:lnTo>
                  <a:pt x="121920" y="50800"/>
                </a:lnTo>
                <a:cubicBezTo>
                  <a:pt x="88265" y="50800"/>
                  <a:pt x="60960" y="84931"/>
                  <a:pt x="60960" y="127000"/>
                </a:cubicBezTo>
                <a:lnTo>
                  <a:pt x="60960" y="304800"/>
                </a:lnTo>
                <a:cubicBezTo>
                  <a:pt x="60960" y="346869"/>
                  <a:pt x="88265" y="381000"/>
                  <a:pt x="121920" y="381000"/>
                </a:cubicBezTo>
                <a:lnTo>
                  <a:pt x="284480" y="381000"/>
                </a:lnTo>
                <a:cubicBezTo>
                  <a:pt x="318135" y="381000"/>
                  <a:pt x="345440" y="346869"/>
                  <a:pt x="345440" y="304800"/>
                </a:cubicBezTo>
                <a:lnTo>
                  <a:pt x="345440" y="127000"/>
                </a:lnTo>
                <a:cubicBezTo>
                  <a:pt x="345440" y="84931"/>
                  <a:pt x="318135" y="50800"/>
                  <a:pt x="284480" y="50800"/>
                </a:cubicBezTo>
                <a:lnTo>
                  <a:pt x="223520" y="50800"/>
                </a:lnTo>
                <a:lnTo>
                  <a:pt x="223520" y="0"/>
                </a:lnTo>
                <a:close/>
                <a:moveTo>
                  <a:pt x="101600" y="292100"/>
                </a:moveTo>
                <a:cubicBezTo>
                  <a:pt x="101600" y="281543"/>
                  <a:pt x="108394" y="273050"/>
                  <a:pt x="116840" y="273050"/>
                </a:cubicBezTo>
                <a:lnTo>
                  <a:pt x="137160" y="273050"/>
                </a:lnTo>
                <a:cubicBezTo>
                  <a:pt x="145606" y="273050"/>
                  <a:pt x="152400" y="281543"/>
                  <a:pt x="152400" y="292100"/>
                </a:cubicBezTo>
                <a:cubicBezTo>
                  <a:pt x="152400" y="302657"/>
                  <a:pt x="145606" y="311150"/>
                  <a:pt x="137160" y="311150"/>
                </a:cubicBezTo>
                <a:lnTo>
                  <a:pt x="116840" y="311150"/>
                </a:lnTo>
                <a:cubicBezTo>
                  <a:pt x="108394" y="311150"/>
                  <a:pt x="101600" y="302657"/>
                  <a:pt x="101600" y="292100"/>
                </a:cubicBezTo>
                <a:close/>
                <a:moveTo>
                  <a:pt x="177800" y="292100"/>
                </a:moveTo>
                <a:cubicBezTo>
                  <a:pt x="177800" y="281543"/>
                  <a:pt x="184595" y="273050"/>
                  <a:pt x="193040" y="273050"/>
                </a:cubicBezTo>
                <a:lnTo>
                  <a:pt x="213360" y="273050"/>
                </a:lnTo>
                <a:cubicBezTo>
                  <a:pt x="221806" y="273050"/>
                  <a:pt x="228600" y="281543"/>
                  <a:pt x="228600" y="292100"/>
                </a:cubicBezTo>
                <a:cubicBezTo>
                  <a:pt x="228600" y="302657"/>
                  <a:pt x="221806" y="311150"/>
                  <a:pt x="213360" y="311150"/>
                </a:cubicBezTo>
                <a:lnTo>
                  <a:pt x="193040" y="311150"/>
                </a:lnTo>
                <a:cubicBezTo>
                  <a:pt x="184595" y="311150"/>
                  <a:pt x="177800" y="302657"/>
                  <a:pt x="177800" y="292100"/>
                </a:cubicBezTo>
                <a:close/>
                <a:moveTo>
                  <a:pt x="254000" y="292100"/>
                </a:moveTo>
                <a:cubicBezTo>
                  <a:pt x="254000" y="281543"/>
                  <a:pt x="260795" y="273050"/>
                  <a:pt x="269240" y="273050"/>
                </a:cubicBezTo>
                <a:lnTo>
                  <a:pt x="289560" y="273050"/>
                </a:lnTo>
                <a:cubicBezTo>
                  <a:pt x="298006" y="273050"/>
                  <a:pt x="304800" y="281543"/>
                  <a:pt x="304800" y="292100"/>
                </a:cubicBezTo>
                <a:cubicBezTo>
                  <a:pt x="304800" y="302657"/>
                  <a:pt x="298006" y="311150"/>
                  <a:pt x="289560" y="311150"/>
                </a:cubicBezTo>
                <a:lnTo>
                  <a:pt x="269240" y="311150"/>
                </a:lnTo>
                <a:cubicBezTo>
                  <a:pt x="260795" y="311150"/>
                  <a:pt x="254000" y="302657"/>
                  <a:pt x="254000" y="292100"/>
                </a:cubicBezTo>
                <a:close/>
                <a:moveTo>
                  <a:pt x="142240" y="139700"/>
                </a:moveTo>
                <a:cubicBezTo>
                  <a:pt x="159062" y="139700"/>
                  <a:pt x="172720" y="156772"/>
                  <a:pt x="172720" y="177800"/>
                </a:cubicBezTo>
                <a:cubicBezTo>
                  <a:pt x="172720" y="198828"/>
                  <a:pt x="159062" y="215900"/>
                  <a:pt x="142240" y="215900"/>
                </a:cubicBezTo>
                <a:cubicBezTo>
                  <a:pt x="125418" y="215900"/>
                  <a:pt x="111760" y="198828"/>
                  <a:pt x="111760" y="177800"/>
                </a:cubicBezTo>
                <a:cubicBezTo>
                  <a:pt x="111760" y="156772"/>
                  <a:pt x="125418" y="139700"/>
                  <a:pt x="142240" y="139700"/>
                </a:cubicBezTo>
                <a:close/>
                <a:moveTo>
                  <a:pt x="233680" y="177800"/>
                </a:moveTo>
                <a:cubicBezTo>
                  <a:pt x="233680" y="156772"/>
                  <a:pt x="247338" y="139700"/>
                  <a:pt x="264160" y="139700"/>
                </a:cubicBezTo>
                <a:cubicBezTo>
                  <a:pt x="280982" y="139700"/>
                  <a:pt x="294640" y="156772"/>
                  <a:pt x="294640" y="177800"/>
                </a:cubicBezTo>
                <a:cubicBezTo>
                  <a:pt x="294640" y="198828"/>
                  <a:pt x="280982" y="215900"/>
                  <a:pt x="264160" y="215900"/>
                </a:cubicBezTo>
                <a:cubicBezTo>
                  <a:pt x="247338" y="215900"/>
                  <a:pt x="233680" y="198828"/>
                  <a:pt x="233680" y="177800"/>
                </a:cubicBezTo>
                <a:close/>
                <a:moveTo>
                  <a:pt x="40640" y="177800"/>
                </a:moveTo>
                <a:cubicBezTo>
                  <a:pt x="40640" y="163751"/>
                  <a:pt x="31560" y="152400"/>
                  <a:pt x="20320" y="152400"/>
                </a:cubicBezTo>
                <a:cubicBezTo>
                  <a:pt x="9080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9081" y="279400"/>
                  <a:pt x="20320" y="279400"/>
                </a:cubicBezTo>
                <a:cubicBezTo>
                  <a:pt x="31560" y="279400"/>
                  <a:pt x="40640" y="268049"/>
                  <a:pt x="40640" y="254000"/>
                </a:cubicBezTo>
                <a:lnTo>
                  <a:pt x="40640" y="177800"/>
                </a:lnTo>
                <a:close/>
                <a:moveTo>
                  <a:pt x="386080" y="152400"/>
                </a:moveTo>
                <a:cubicBezTo>
                  <a:pt x="374841" y="152400"/>
                  <a:pt x="365760" y="163751"/>
                  <a:pt x="365760" y="177800"/>
                </a:cubicBezTo>
                <a:lnTo>
                  <a:pt x="365760" y="254000"/>
                </a:lnTo>
                <a:cubicBezTo>
                  <a:pt x="365760" y="268049"/>
                  <a:pt x="374841" y="279400"/>
                  <a:pt x="386080" y="279400"/>
                </a:cubicBezTo>
                <a:cubicBezTo>
                  <a:pt x="397320" y="279400"/>
                  <a:pt x="406400" y="268049"/>
                  <a:pt x="406400" y="254000"/>
                </a:cubicBezTo>
                <a:lnTo>
                  <a:pt x="406400" y="177800"/>
                </a:lnTo>
                <a:cubicBezTo>
                  <a:pt x="406400" y="163751"/>
                  <a:pt x="397320" y="152400"/>
                  <a:pt x="386080" y="152400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709400" y="2768600"/>
            <a:ext cx="35306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Recruitment Tools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76000" y="3302000"/>
            <a:ext cx="406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ML and NLP for resume analysis. Often lack integrated assessments and communication features.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79500" y="5715000"/>
            <a:ext cx="140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Gap: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Most platforms cover only specific aspects — none provide a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integrated recruitment experience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8067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Research Gap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4699000" cy="1905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4699000" cy="508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16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3106" y="61119"/>
                </a:moveTo>
                <a:lnTo>
                  <a:pt x="202494" y="61119"/>
                </a:lnTo>
                <a:lnTo>
                  <a:pt x="202494" y="94456"/>
                </a:lnTo>
                <a:lnTo>
                  <a:pt x="153106" y="94456"/>
                </a:lnTo>
                <a:lnTo>
                  <a:pt x="153106" y="61119"/>
                </a:lnTo>
                <a:close/>
                <a:moveTo>
                  <a:pt x="148167" y="22225"/>
                </a:moveTo>
                <a:cubicBezTo>
                  <a:pt x="131807" y="22225"/>
                  <a:pt x="118533" y="37157"/>
                  <a:pt x="118533" y="55563"/>
                </a:cubicBezTo>
                <a:lnTo>
                  <a:pt x="118533" y="100013"/>
                </a:lnTo>
                <a:cubicBezTo>
                  <a:pt x="118533" y="118418"/>
                  <a:pt x="131807" y="133350"/>
                  <a:pt x="148167" y="133350"/>
                </a:cubicBezTo>
                <a:lnTo>
                  <a:pt x="158044" y="133350"/>
                </a:lnTo>
                <a:lnTo>
                  <a:pt x="158044" y="155575"/>
                </a:lnTo>
                <a:lnTo>
                  <a:pt x="19756" y="155575"/>
                </a:lnTo>
                <a:cubicBezTo>
                  <a:pt x="8828" y="155575"/>
                  <a:pt x="0" y="165507"/>
                  <a:pt x="0" y="177800"/>
                </a:cubicBezTo>
                <a:cubicBezTo>
                  <a:pt x="0" y="190093"/>
                  <a:pt x="8828" y="200025"/>
                  <a:pt x="19756" y="200025"/>
                </a:cubicBezTo>
                <a:lnTo>
                  <a:pt x="79022" y="200025"/>
                </a:lnTo>
                <a:lnTo>
                  <a:pt x="79022" y="222250"/>
                </a:lnTo>
                <a:lnTo>
                  <a:pt x="69144" y="222250"/>
                </a:lnTo>
                <a:cubicBezTo>
                  <a:pt x="52784" y="222250"/>
                  <a:pt x="39511" y="237182"/>
                  <a:pt x="39511" y="255587"/>
                </a:cubicBezTo>
                <a:lnTo>
                  <a:pt x="39511" y="300038"/>
                </a:lnTo>
                <a:cubicBezTo>
                  <a:pt x="39511" y="318443"/>
                  <a:pt x="52784" y="333375"/>
                  <a:pt x="69144" y="333375"/>
                </a:cubicBezTo>
                <a:lnTo>
                  <a:pt x="128411" y="333375"/>
                </a:lnTo>
                <a:cubicBezTo>
                  <a:pt x="144771" y="333375"/>
                  <a:pt x="158044" y="318443"/>
                  <a:pt x="158044" y="300038"/>
                </a:cubicBezTo>
                <a:lnTo>
                  <a:pt x="158044" y="255587"/>
                </a:lnTo>
                <a:cubicBezTo>
                  <a:pt x="158044" y="237182"/>
                  <a:pt x="144771" y="222250"/>
                  <a:pt x="128411" y="222250"/>
                </a:cubicBezTo>
                <a:lnTo>
                  <a:pt x="118533" y="222250"/>
                </a:lnTo>
                <a:lnTo>
                  <a:pt x="118533" y="200025"/>
                </a:lnTo>
                <a:lnTo>
                  <a:pt x="237067" y="200025"/>
                </a:lnTo>
                <a:lnTo>
                  <a:pt x="237067" y="222250"/>
                </a:lnTo>
                <a:lnTo>
                  <a:pt x="227189" y="222250"/>
                </a:lnTo>
                <a:cubicBezTo>
                  <a:pt x="210829" y="222250"/>
                  <a:pt x="197556" y="237182"/>
                  <a:pt x="197556" y="255587"/>
                </a:cubicBezTo>
                <a:lnTo>
                  <a:pt x="197556" y="300038"/>
                </a:lnTo>
                <a:cubicBezTo>
                  <a:pt x="197556" y="318443"/>
                  <a:pt x="210829" y="333375"/>
                  <a:pt x="227189" y="333375"/>
                </a:cubicBezTo>
                <a:lnTo>
                  <a:pt x="286456" y="333375"/>
                </a:lnTo>
                <a:cubicBezTo>
                  <a:pt x="302816" y="333375"/>
                  <a:pt x="316089" y="318443"/>
                  <a:pt x="316089" y="300038"/>
                </a:cubicBezTo>
                <a:lnTo>
                  <a:pt x="316089" y="255587"/>
                </a:lnTo>
                <a:cubicBezTo>
                  <a:pt x="316089" y="237182"/>
                  <a:pt x="302816" y="222250"/>
                  <a:pt x="286456" y="222250"/>
                </a:cubicBezTo>
                <a:lnTo>
                  <a:pt x="276578" y="222250"/>
                </a:lnTo>
                <a:lnTo>
                  <a:pt x="276578" y="200025"/>
                </a:lnTo>
                <a:lnTo>
                  <a:pt x="335844" y="200025"/>
                </a:lnTo>
                <a:cubicBezTo>
                  <a:pt x="346772" y="200025"/>
                  <a:pt x="355600" y="190093"/>
                  <a:pt x="355600" y="177800"/>
                </a:cubicBezTo>
                <a:cubicBezTo>
                  <a:pt x="355600" y="165507"/>
                  <a:pt x="346772" y="155575"/>
                  <a:pt x="335844" y="155575"/>
                </a:cubicBezTo>
                <a:lnTo>
                  <a:pt x="197556" y="155575"/>
                </a:lnTo>
                <a:lnTo>
                  <a:pt x="197556" y="133350"/>
                </a:lnTo>
                <a:lnTo>
                  <a:pt x="207433" y="133350"/>
                </a:lnTo>
                <a:cubicBezTo>
                  <a:pt x="223793" y="133350"/>
                  <a:pt x="237067" y="118418"/>
                  <a:pt x="237067" y="100013"/>
                </a:cubicBezTo>
                <a:lnTo>
                  <a:pt x="237067" y="55563"/>
                </a:lnTo>
                <a:cubicBezTo>
                  <a:pt x="237067" y="37157"/>
                  <a:pt x="223793" y="22225"/>
                  <a:pt x="207433" y="22225"/>
                </a:cubicBezTo>
                <a:lnTo>
                  <a:pt x="148167" y="22225"/>
                </a:lnTo>
                <a:close/>
                <a:moveTo>
                  <a:pt x="276578" y="261144"/>
                </a:moveTo>
                <a:lnTo>
                  <a:pt x="281517" y="261144"/>
                </a:lnTo>
                <a:lnTo>
                  <a:pt x="281517" y="294481"/>
                </a:lnTo>
                <a:lnTo>
                  <a:pt x="232128" y="294481"/>
                </a:lnTo>
                <a:lnTo>
                  <a:pt x="232128" y="261144"/>
                </a:lnTo>
                <a:lnTo>
                  <a:pt x="276578" y="261144"/>
                </a:lnTo>
                <a:close/>
                <a:moveTo>
                  <a:pt x="118533" y="261144"/>
                </a:moveTo>
                <a:lnTo>
                  <a:pt x="123472" y="261144"/>
                </a:lnTo>
                <a:lnTo>
                  <a:pt x="123472" y="294481"/>
                </a:lnTo>
                <a:lnTo>
                  <a:pt x="74083" y="294481"/>
                </a:lnTo>
                <a:lnTo>
                  <a:pt x="74083" y="261144"/>
                </a:lnTo>
                <a:lnTo>
                  <a:pt x="118533" y="261144"/>
                </a:ln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98600" y="1778000"/>
            <a:ext cx="370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Networking Platforms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22606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Lack intelligent candidate evaluation beyond basic profile matching.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78500" y="1524000"/>
            <a:ext cx="4699000" cy="1905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78500" y="1524000"/>
            <a:ext cx="4699000" cy="508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25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5100" y="1778000"/>
            <a:ext cx="370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ATS Systems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0" y="22606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Rely on inaccurate keyword-based filtering without semantic understanding.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795000" y="1524000"/>
            <a:ext cx="4699000" cy="1905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795000" y="1524000"/>
            <a:ext cx="4699000" cy="508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049000" y="1803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5575" y="0"/>
                </a:moveTo>
                <a:cubicBezTo>
                  <a:pt x="180092" y="0"/>
                  <a:pt x="200025" y="14932"/>
                  <a:pt x="200025" y="33337"/>
                </a:cubicBezTo>
                <a:cubicBezTo>
                  <a:pt x="200025" y="40561"/>
                  <a:pt x="196969" y="47228"/>
                  <a:pt x="191691" y="52715"/>
                </a:cubicBezTo>
                <a:cubicBezTo>
                  <a:pt x="187107" y="57507"/>
                  <a:pt x="183356" y="63341"/>
                  <a:pt x="183356" y="70009"/>
                </a:cubicBezTo>
                <a:cubicBezTo>
                  <a:pt x="183356" y="80427"/>
                  <a:pt x="191830" y="88900"/>
                  <a:pt x="202248" y="88900"/>
                </a:cubicBezTo>
                <a:lnTo>
                  <a:pt x="233363" y="88900"/>
                </a:lnTo>
                <a:cubicBezTo>
                  <a:pt x="251768" y="88900"/>
                  <a:pt x="266700" y="103832"/>
                  <a:pt x="266700" y="122238"/>
                </a:cubicBezTo>
                <a:lnTo>
                  <a:pt x="266700" y="153353"/>
                </a:lnTo>
                <a:cubicBezTo>
                  <a:pt x="266700" y="163770"/>
                  <a:pt x="275173" y="172244"/>
                  <a:pt x="285591" y="172244"/>
                </a:cubicBezTo>
                <a:cubicBezTo>
                  <a:pt x="292189" y="172244"/>
                  <a:pt x="298093" y="168493"/>
                  <a:pt x="302885" y="163909"/>
                </a:cubicBezTo>
                <a:cubicBezTo>
                  <a:pt x="308372" y="158700"/>
                  <a:pt x="315039" y="155575"/>
                  <a:pt x="322263" y="155575"/>
                </a:cubicBezTo>
                <a:cubicBezTo>
                  <a:pt x="340668" y="155575"/>
                  <a:pt x="355600" y="175508"/>
                  <a:pt x="355600" y="200025"/>
                </a:cubicBezTo>
                <a:cubicBezTo>
                  <a:pt x="355600" y="224542"/>
                  <a:pt x="340668" y="244475"/>
                  <a:pt x="322263" y="244475"/>
                </a:cubicBezTo>
                <a:cubicBezTo>
                  <a:pt x="315039" y="244475"/>
                  <a:pt x="308302" y="241419"/>
                  <a:pt x="302885" y="236141"/>
                </a:cubicBezTo>
                <a:cubicBezTo>
                  <a:pt x="298093" y="231557"/>
                  <a:pt x="292259" y="227806"/>
                  <a:pt x="285591" y="227806"/>
                </a:cubicBezTo>
                <a:cubicBezTo>
                  <a:pt x="275173" y="227806"/>
                  <a:pt x="266700" y="236280"/>
                  <a:pt x="266700" y="246698"/>
                </a:cubicBezTo>
                <a:lnTo>
                  <a:pt x="266700" y="322263"/>
                </a:lnTo>
                <a:cubicBezTo>
                  <a:pt x="266700" y="340668"/>
                  <a:pt x="251768" y="355600"/>
                  <a:pt x="233363" y="355600"/>
                </a:cubicBezTo>
                <a:lnTo>
                  <a:pt x="193913" y="355600"/>
                </a:lnTo>
                <a:cubicBezTo>
                  <a:pt x="185023" y="355600"/>
                  <a:pt x="177800" y="348377"/>
                  <a:pt x="177800" y="339487"/>
                </a:cubicBezTo>
                <a:cubicBezTo>
                  <a:pt x="177800" y="333097"/>
                  <a:pt x="181828" y="327471"/>
                  <a:pt x="186968" y="323652"/>
                </a:cubicBezTo>
                <a:cubicBezTo>
                  <a:pt x="195024" y="317609"/>
                  <a:pt x="200025" y="309275"/>
                  <a:pt x="200025" y="300038"/>
                </a:cubicBezTo>
                <a:cubicBezTo>
                  <a:pt x="200025" y="281632"/>
                  <a:pt x="180092" y="266700"/>
                  <a:pt x="155575" y="266700"/>
                </a:cubicBezTo>
                <a:cubicBezTo>
                  <a:pt x="131058" y="266700"/>
                  <a:pt x="111125" y="281632"/>
                  <a:pt x="111125" y="300038"/>
                </a:cubicBezTo>
                <a:cubicBezTo>
                  <a:pt x="111125" y="309275"/>
                  <a:pt x="116126" y="317609"/>
                  <a:pt x="124182" y="323652"/>
                </a:cubicBezTo>
                <a:cubicBezTo>
                  <a:pt x="129322" y="327471"/>
                  <a:pt x="133350" y="333028"/>
                  <a:pt x="133350" y="339487"/>
                </a:cubicBezTo>
                <a:cubicBezTo>
                  <a:pt x="133350" y="348377"/>
                  <a:pt x="126127" y="355600"/>
                  <a:pt x="117237" y="355600"/>
                </a:cubicBezTo>
                <a:lnTo>
                  <a:pt x="33337" y="355600"/>
                </a:lnTo>
                <a:cubicBezTo>
                  <a:pt x="14932" y="355600"/>
                  <a:pt x="0" y="340668"/>
                  <a:pt x="0" y="322263"/>
                </a:cubicBezTo>
                <a:lnTo>
                  <a:pt x="0" y="238363"/>
                </a:lnTo>
                <a:cubicBezTo>
                  <a:pt x="0" y="229473"/>
                  <a:pt x="7223" y="222250"/>
                  <a:pt x="16113" y="222250"/>
                </a:cubicBezTo>
                <a:cubicBezTo>
                  <a:pt x="22503" y="222250"/>
                  <a:pt x="28129" y="226278"/>
                  <a:pt x="31948" y="231418"/>
                </a:cubicBezTo>
                <a:cubicBezTo>
                  <a:pt x="37991" y="239474"/>
                  <a:pt x="46325" y="244475"/>
                  <a:pt x="55563" y="244475"/>
                </a:cubicBezTo>
                <a:cubicBezTo>
                  <a:pt x="73968" y="244475"/>
                  <a:pt x="88900" y="224542"/>
                  <a:pt x="88900" y="200025"/>
                </a:cubicBezTo>
                <a:cubicBezTo>
                  <a:pt x="88900" y="175508"/>
                  <a:pt x="73968" y="155575"/>
                  <a:pt x="55563" y="155575"/>
                </a:cubicBezTo>
                <a:cubicBezTo>
                  <a:pt x="46325" y="155575"/>
                  <a:pt x="37991" y="160576"/>
                  <a:pt x="31948" y="168632"/>
                </a:cubicBezTo>
                <a:cubicBezTo>
                  <a:pt x="28129" y="173772"/>
                  <a:pt x="22572" y="177800"/>
                  <a:pt x="16113" y="177800"/>
                </a:cubicBezTo>
                <a:cubicBezTo>
                  <a:pt x="7223" y="177800"/>
                  <a:pt x="0" y="170577"/>
                  <a:pt x="0" y="161687"/>
                </a:cubicBezTo>
                <a:lnTo>
                  <a:pt x="0" y="122238"/>
                </a:lnTo>
                <a:cubicBezTo>
                  <a:pt x="0" y="103832"/>
                  <a:pt x="14932" y="88900"/>
                  <a:pt x="33337" y="88900"/>
                </a:cubicBezTo>
                <a:lnTo>
                  <a:pt x="108903" y="88900"/>
                </a:lnTo>
                <a:cubicBezTo>
                  <a:pt x="119320" y="88900"/>
                  <a:pt x="127794" y="80427"/>
                  <a:pt x="127794" y="70009"/>
                </a:cubicBezTo>
                <a:cubicBezTo>
                  <a:pt x="127794" y="63411"/>
                  <a:pt x="124043" y="57507"/>
                  <a:pt x="119459" y="52715"/>
                </a:cubicBezTo>
                <a:cubicBezTo>
                  <a:pt x="114250" y="47228"/>
                  <a:pt x="111125" y="40561"/>
                  <a:pt x="111125" y="33338"/>
                </a:cubicBezTo>
                <a:cubicBezTo>
                  <a:pt x="111125" y="14932"/>
                  <a:pt x="131058" y="0"/>
                  <a:pt x="155575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531600" y="1778000"/>
            <a:ext cx="370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Recruitment Tools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49000" y="2260600"/>
            <a:ext cx="4191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Often lack integrated assessments and communication features.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794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8105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2827000" y="355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4461" y="299204"/>
                </a:moveTo>
                <a:cubicBezTo>
                  <a:pt x="144383" y="306645"/>
                  <a:pt x="160496" y="306645"/>
                  <a:pt x="170418" y="299204"/>
                </a:cubicBezTo>
                <a:lnTo>
                  <a:pt x="297418" y="203954"/>
                </a:lnTo>
                <a:cubicBezTo>
                  <a:pt x="307340" y="196513"/>
                  <a:pt x="307340" y="184428"/>
                  <a:pt x="297418" y="176986"/>
                </a:cubicBezTo>
                <a:cubicBezTo>
                  <a:pt x="287496" y="169545"/>
                  <a:pt x="271383" y="169545"/>
                  <a:pt x="261461" y="176986"/>
                </a:cubicBezTo>
                <a:lnTo>
                  <a:pt x="177800" y="239732"/>
                </a:lnTo>
                <a:lnTo>
                  <a:pt x="177800" y="19050"/>
                </a:lnTo>
                <a:cubicBezTo>
                  <a:pt x="177800" y="8513"/>
                  <a:pt x="166449" y="0"/>
                  <a:pt x="152400" y="0"/>
                </a:cubicBezTo>
                <a:cubicBezTo>
                  <a:pt x="138351" y="0"/>
                  <a:pt x="127000" y="8513"/>
                  <a:pt x="127000" y="19050"/>
                </a:cubicBezTo>
                <a:lnTo>
                  <a:pt x="127000" y="239732"/>
                </a:lnTo>
                <a:lnTo>
                  <a:pt x="43339" y="176986"/>
                </a:lnTo>
                <a:cubicBezTo>
                  <a:pt x="33417" y="169545"/>
                  <a:pt x="17304" y="169545"/>
                  <a:pt x="7382" y="176986"/>
                </a:cubicBezTo>
                <a:cubicBezTo>
                  <a:pt x="-2540" y="184428"/>
                  <a:pt x="-2540" y="196513"/>
                  <a:pt x="7382" y="203954"/>
                </a:cubicBezTo>
                <a:lnTo>
                  <a:pt x="134382" y="299204"/>
                </a:ln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62000" y="4064000"/>
            <a:ext cx="14732000" cy="1778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79500" y="444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778000" y="431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 SOLUTION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78000" y="4724400"/>
            <a:ext cx="1333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Unifies </a:t>
            </a: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profiling, resume analysis, assessments, AI matching, ranking,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interviews</a:t>
            </a:r>
            <a:r>
              <a:rPr lang="en-US" sz="17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one comprehensive platform — addressing all identified gaps.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245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Approach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4699000" cy="279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6000" y="1651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OLD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16000" y="2006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Application-Driven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778000" y="2438400"/>
            <a:ext cx="2667000" cy="254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6000" y="2603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job searching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16000" y="2984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Repetitive applying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16000" y="3365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screening by recruiters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16000" y="3746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effort, low accuracy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15000" y="266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248781"/>
                </a:moveTo>
                <a:cubicBezTo>
                  <a:pt x="459968" y="237619"/>
                  <a:pt x="459968" y="219492"/>
                  <a:pt x="448806" y="208330"/>
                </a:cubicBezTo>
                <a:lnTo>
                  <a:pt x="305931" y="65455"/>
                </a:lnTo>
                <a:cubicBezTo>
                  <a:pt x="294769" y="54293"/>
                  <a:pt x="276642" y="54293"/>
                  <a:pt x="265480" y="65455"/>
                </a:cubicBezTo>
                <a:cubicBezTo>
                  <a:pt x="254318" y="76617"/>
                  <a:pt x="254318" y="94744"/>
                  <a:pt x="265480" y="105906"/>
                </a:cubicBezTo>
                <a:lnTo>
                  <a:pt x="359599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359599" y="257175"/>
                </a:lnTo>
                <a:lnTo>
                  <a:pt x="265480" y="351294"/>
                </a:lnTo>
                <a:cubicBezTo>
                  <a:pt x="254317" y="362456"/>
                  <a:pt x="254317" y="380583"/>
                  <a:pt x="265480" y="391745"/>
                </a:cubicBezTo>
                <a:cubicBezTo>
                  <a:pt x="276642" y="402908"/>
                  <a:pt x="294769" y="402908"/>
                  <a:pt x="305931" y="391745"/>
                </a:cubicBezTo>
                <a:lnTo>
                  <a:pt x="448806" y="248870"/>
                </a:ln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77000" y="1524000"/>
            <a:ext cx="4699000" cy="279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77000" y="1524000"/>
            <a:ext cx="4699000" cy="508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31000" y="1651000"/>
            <a:ext cx="419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31000" y="20066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Proactive Recommendation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493000" y="2438400"/>
            <a:ext cx="2667000" cy="254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31000" y="2603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profile building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31000" y="2984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identifies qualified matches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31000" y="3365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Pre-matched candidates presented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31000" y="37465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effort, high accuracy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1557000" y="1524000"/>
            <a:ext cx="3937000" cy="279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1811000" y="1714500"/>
            <a:ext cx="3429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11000" y="2159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repetitive searching for job seekers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11000" y="2857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Eliminates manual screening for recruiters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811000" y="3556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match quality through AI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5245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Collection Strategy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multi-step profile wizard for standardized data capture ensures consistent, high-quality data.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2000" y="2095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2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0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02000" y="23495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6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4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42000" y="2095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CV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0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C17A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8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82000" y="20955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54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922000" y="2095500"/>
            <a:ext cx="2159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22000" y="23495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3081000" y="2603500"/>
            <a:ext cx="381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3462000" y="2095500"/>
            <a:ext cx="2032000" cy="1016000"/>
          </a:xfrm>
          <a:prstGeom prst="roundRect">
            <a:avLst>
              <a:gd name="adj" fmla="val 8000"/>
            </a:avLst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3462000" y="2095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</a:t>
            </a:r>
            <a:endParaRPr lang="en-US" sz="14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3683000"/>
            <a:ext cx="14732000" cy="1270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62000" y="3683000"/>
            <a:ext cx="50800" cy="1270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16000" y="3962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49400" y="393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Outcome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16000" y="4381500"/>
            <a:ext cx="142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Ensures consistent, high-quality data across all candidates for accurate AI matching and ranking.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24000" y="1651000"/>
            <a:ext cx="3810000" cy="1524000"/>
          </a:xfrm>
          <a:prstGeom prst="roundRect">
            <a:avLst>
              <a:gd name="adj" fmla="val 6000"/>
            </a:avLst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048000" y="1803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51000" y="2286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Tier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2616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SPA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34000" y="2413000"/>
            <a:ext cx="1270000" cy="0"/>
          </a:xfrm>
          <a:prstGeom prst="straightConnector1">
            <a:avLst/>
          </a:prstGeom>
          <a:noFill/>
          <a:ln w="25400">
            <a:solidFill>
              <a:srgbClr val="1E4D4D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04000" y="1651000"/>
            <a:ext cx="3810000" cy="1524000"/>
          </a:xfrm>
          <a:prstGeom prst="roundRect">
            <a:avLst>
              <a:gd name="adj" fmla="val 6000"/>
            </a:avLst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28000" y="1803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8057" y="25400"/>
                </a:moveTo>
                <a:cubicBezTo>
                  <a:pt x="26035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6035" y="177800"/>
                  <a:pt x="58057" y="177800"/>
                </a:cubicBezTo>
                <a:lnTo>
                  <a:pt x="348343" y="177800"/>
                </a:lnTo>
                <a:cubicBezTo>
                  <a:pt x="380365" y="177800"/>
                  <a:pt x="406400" y="155019"/>
                  <a:pt x="406400" y="127000"/>
                </a:cubicBezTo>
                <a:lnTo>
                  <a:pt x="406400" y="76200"/>
                </a:lnTo>
                <a:cubicBezTo>
                  <a:pt x="406400" y="48181"/>
                  <a:pt x="380365" y="25400"/>
                  <a:pt x="348343" y="25400"/>
                </a:cubicBezTo>
                <a:lnTo>
                  <a:pt x="58057" y="25400"/>
                </a:lnTo>
                <a:close/>
                <a:moveTo>
                  <a:pt x="254000" y="82550"/>
                </a:moveTo>
                <a:cubicBezTo>
                  <a:pt x="266016" y="82550"/>
                  <a:pt x="275771" y="91086"/>
                  <a:pt x="275771" y="101600"/>
                </a:cubicBezTo>
                <a:cubicBezTo>
                  <a:pt x="275771" y="112114"/>
                  <a:pt x="266016" y="120650"/>
                  <a:pt x="254000" y="120650"/>
                </a:cubicBezTo>
                <a:cubicBezTo>
                  <a:pt x="241984" y="120650"/>
                  <a:pt x="232229" y="112114"/>
                  <a:pt x="232229" y="101600"/>
                </a:cubicBezTo>
                <a:cubicBezTo>
                  <a:pt x="232229" y="91086"/>
                  <a:pt x="241984" y="82550"/>
                  <a:pt x="254000" y="82550"/>
                </a:cubicBezTo>
                <a:close/>
                <a:moveTo>
                  <a:pt x="304800" y="101600"/>
                </a:moveTo>
                <a:cubicBezTo>
                  <a:pt x="304800" y="91086"/>
                  <a:pt x="314555" y="82550"/>
                  <a:pt x="326571" y="82550"/>
                </a:cubicBezTo>
                <a:cubicBezTo>
                  <a:pt x="338587" y="82550"/>
                  <a:pt x="348343" y="91086"/>
                  <a:pt x="348343" y="101600"/>
                </a:cubicBezTo>
                <a:cubicBezTo>
                  <a:pt x="348343" y="112114"/>
                  <a:pt x="338587" y="120650"/>
                  <a:pt x="326571" y="120650"/>
                </a:cubicBezTo>
                <a:cubicBezTo>
                  <a:pt x="314555" y="120650"/>
                  <a:pt x="304800" y="112114"/>
                  <a:pt x="304800" y="101600"/>
                </a:cubicBezTo>
                <a:close/>
                <a:moveTo>
                  <a:pt x="58057" y="228600"/>
                </a:moveTo>
                <a:cubicBezTo>
                  <a:pt x="26035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6035" y="381000"/>
                  <a:pt x="58057" y="381000"/>
                </a:cubicBezTo>
                <a:lnTo>
                  <a:pt x="348343" y="381000"/>
                </a:lnTo>
                <a:cubicBezTo>
                  <a:pt x="380365" y="381000"/>
                  <a:pt x="406400" y="358219"/>
                  <a:pt x="406400" y="330200"/>
                </a:cubicBezTo>
                <a:lnTo>
                  <a:pt x="406400" y="279400"/>
                </a:lnTo>
                <a:cubicBezTo>
                  <a:pt x="406400" y="251381"/>
                  <a:pt x="380365" y="228600"/>
                  <a:pt x="348343" y="228600"/>
                </a:cubicBezTo>
                <a:lnTo>
                  <a:pt x="58057" y="228600"/>
                </a:lnTo>
                <a:close/>
                <a:moveTo>
                  <a:pt x="254000" y="285750"/>
                </a:moveTo>
                <a:cubicBezTo>
                  <a:pt x="266016" y="285750"/>
                  <a:pt x="275771" y="294286"/>
                  <a:pt x="275771" y="304800"/>
                </a:cubicBezTo>
                <a:cubicBezTo>
                  <a:pt x="275771" y="315314"/>
                  <a:pt x="266016" y="323850"/>
                  <a:pt x="254000" y="323850"/>
                </a:cubicBezTo>
                <a:cubicBezTo>
                  <a:pt x="241984" y="323850"/>
                  <a:pt x="232229" y="315314"/>
                  <a:pt x="232229" y="304800"/>
                </a:cubicBezTo>
                <a:cubicBezTo>
                  <a:pt x="232229" y="294286"/>
                  <a:pt x="241984" y="285750"/>
                  <a:pt x="254000" y="285750"/>
                </a:cubicBezTo>
                <a:close/>
                <a:moveTo>
                  <a:pt x="304800" y="304800"/>
                </a:moveTo>
                <a:cubicBezTo>
                  <a:pt x="304800" y="294286"/>
                  <a:pt x="314555" y="285750"/>
                  <a:pt x="326571" y="285750"/>
                </a:cubicBezTo>
                <a:cubicBezTo>
                  <a:pt x="338587" y="285750"/>
                  <a:pt x="348343" y="294286"/>
                  <a:pt x="348343" y="304800"/>
                </a:cubicBezTo>
                <a:cubicBezTo>
                  <a:pt x="348343" y="315314"/>
                  <a:pt x="338587" y="323850"/>
                  <a:pt x="326571" y="323850"/>
                </a:cubicBezTo>
                <a:cubicBezTo>
                  <a:pt x="314555" y="323850"/>
                  <a:pt x="304800" y="315314"/>
                  <a:pt x="304800" y="3048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31000" y="2286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 Tier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31000" y="2616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ASP.NET Core API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414000" y="2413000"/>
            <a:ext cx="1270000" cy="0"/>
          </a:xfrm>
          <a:prstGeom prst="straightConnector1">
            <a:avLst/>
          </a:prstGeom>
          <a:noFill/>
          <a:ln w="25400">
            <a:solidFill>
              <a:srgbClr val="C17A1B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684000" y="1651000"/>
            <a:ext cx="3810000" cy="1524000"/>
          </a:xfrm>
          <a:prstGeom prst="roundRect">
            <a:avLst>
              <a:gd name="adj" fmla="val 6000"/>
            </a:avLst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208000" y="1803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811000" y="2286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Tier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11000" y="26162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04000" y="355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Services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74000" y="3860800"/>
            <a:ext cx="0" cy="45720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44000" y="3860800"/>
            <a:ext cx="0" cy="457200"/>
          </a:xfrm>
          <a:prstGeom prst="straightConnector1">
            <a:avLst/>
          </a:prstGeom>
          <a:noFill/>
          <a:ln w="12700">
            <a:solidFill>
              <a:srgbClr val="64748B"/>
            </a:solidFill>
            <a:prstDash val="dash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96000" y="4318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96000" y="4445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APIs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382000" y="4318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82000" y="4445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16000" y="558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separation of concerns: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Presentation layer (React SPA), Business logic (ASP.NET Core API), and Persistence (SQL Server). External AI APIs and email services consumed over HTTPS.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 Architecture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Controller-Service pattern with strict DTOs for API contracts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1968500"/>
            <a:ext cx="14732000" cy="1270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2000" y="1968500"/>
            <a:ext cx="50800" cy="1270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16000" y="20574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16000" y="2413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Controllers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Auth, JobSeeker, Recruiter, Assessment, Notification, and more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429000"/>
            <a:ext cx="14732000" cy="1270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2000" y="3429000"/>
            <a:ext cx="50800" cy="1270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16000" y="35179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16000" y="38735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22+ Services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AuthService, AIMatchingService, EngagementService, and more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889500"/>
            <a:ext cx="14732000" cy="1270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62000" y="4889500"/>
            <a:ext cx="50800" cy="1270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16000" y="49784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ACCESS LAYER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6000" y="5334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AppDbContext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EF Core migrations, reference data seeders, 28 tables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7048500" cy="17145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460500"/>
            <a:ext cx="7048500" cy="508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06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43543" y="19050"/>
                </a:moveTo>
                <a:cubicBezTo>
                  <a:pt x="19526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9526" y="133350"/>
                  <a:pt x="43543" y="133350"/>
                </a:cubicBezTo>
                <a:lnTo>
                  <a:pt x="261257" y="133350"/>
                </a:lnTo>
                <a:cubicBezTo>
                  <a:pt x="285274" y="133350"/>
                  <a:pt x="304800" y="116265"/>
                  <a:pt x="304800" y="95250"/>
                </a:cubicBezTo>
                <a:lnTo>
                  <a:pt x="304800" y="57150"/>
                </a:lnTo>
                <a:cubicBezTo>
                  <a:pt x="304800" y="36135"/>
                  <a:pt x="285274" y="19050"/>
                  <a:pt x="261257" y="19050"/>
                </a:cubicBezTo>
                <a:lnTo>
                  <a:pt x="43543" y="19050"/>
                </a:lnTo>
                <a:close/>
                <a:moveTo>
                  <a:pt x="190500" y="61912"/>
                </a:moveTo>
                <a:cubicBezTo>
                  <a:pt x="199512" y="61912"/>
                  <a:pt x="206829" y="68315"/>
                  <a:pt x="206829" y="76200"/>
                </a:cubicBezTo>
                <a:cubicBezTo>
                  <a:pt x="206829" y="84085"/>
                  <a:pt x="199512" y="90488"/>
                  <a:pt x="190500" y="90488"/>
                </a:cubicBezTo>
                <a:cubicBezTo>
                  <a:pt x="181488" y="90488"/>
                  <a:pt x="174171" y="84085"/>
                  <a:pt x="174171" y="76200"/>
                </a:cubicBezTo>
                <a:cubicBezTo>
                  <a:pt x="174171" y="68315"/>
                  <a:pt x="181488" y="61912"/>
                  <a:pt x="190500" y="61912"/>
                </a:cubicBezTo>
                <a:close/>
                <a:moveTo>
                  <a:pt x="228600" y="76200"/>
                </a:moveTo>
                <a:cubicBezTo>
                  <a:pt x="228600" y="68315"/>
                  <a:pt x="235917" y="61912"/>
                  <a:pt x="244929" y="61912"/>
                </a:cubicBezTo>
                <a:cubicBezTo>
                  <a:pt x="253941" y="61912"/>
                  <a:pt x="261257" y="68315"/>
                  <a:pt x="261257" y="76200"/>
                </a:cubicBezTo>
                <a:cubicBezTo>
                  <a:pt x="261257" y="84085"/>
                  <a:pt x="253941" y="90488"/>
                  <a:pt x="244929" y="90488"/>
                </a:cubicBezTo>
                <a:cubicBezTo>
                  <a:pt x="235917" y="90488"/>
                  <a:pt x="228600" y="84085"/>
                  <a:pt x="228600" y="76200"/>
                </a:cubicBezTo>
                <a:close/>
                <a:moveTo>
                  <a:pt x="43543" y="171450"/>
                </a:moveTo>
                <a:cubicBezTo>
                  <a:pt x="19526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9526" y="285750"/>
                  <a:pt x="43543" y="285750"/>
                </a:cubicBezTo>
                <a:lnTo>
                  <a:pt x="261257" y="285750"/>
                </a:lnTo>
                <a:cubicBezTo>
                  <a:pt x="285274" y="285750"/>
                  <a:pt x="304800" y="268665"/>
                  <a:pt x="304800" y="247650"/>
                </a:cubicBezTo>
                <a:lnTo>
                  <a:pt x="304800" y="209550"/>
                </a:lnTo>
                <a:cubicBezTo>
                  <a:pt x="304800" y="188535"/>
                  <a:pt x="285274" y="171450"/>
                  <a:pt x="261257" y="171450"/>
                </a:cubicBezTo>
                <a:lnTo>
                  <a:pt x="43543" y="171450"/>
                </a:lnTo>
                <a:close/>
                <a:moveTo>
                  <a:pt x="190500" y="214313"/>
                </a:moveTo>
                <a:cubicBezTo>
                  <a:pt x="199512" y="214313"/>
                  <a:pt x="206829" y="220715"/>
                  <a:pt x="206829" y="228600"/>
                </a:cubicBezTo>
                <a:cubicBezTo>
                  <a:pt x="206829" y="236485"/>
                  <a:pt x="199512" y="242888"/>
                  <a:pt x="190500" y="242888"/>
                </a:cubicBezTo>
                <a:cubicBezTo>
                  <a:pt x="181488" y="242888"/>
                  <a:pt x="174171" y="236485"/>
                  <a:pt x="174171" y="228600"/>
                </a:cubicBezTo>
                <a:cubicBezTo>
                  <a:pt x="174171" y="220715"/>
                  <a:pt x="181488" y="214313"/>
                  <a:pt x="190500" y="214313"/>
                </a:cubicBezTo>
                <a:close/>
                <a:moveTo>
                  <a:pt x="228600" y="228600"/>
                </a:moveTo>
                <a:cubicBezTo>
                  <a:pt x="228600" y="220715"/>
                  <a:pt x="235917" y="214313"/>
                  <a:pt x="244929" y="214313"/>
                </a:cubicBezTo>
                <a:cubicBezTo>
                  <a:pt x="253941" y="214313"/>
                  <a:pt x="261257" y="220715"/>
                  <a:pt x="261257" y="228600"/>
                </a:cubicBezTo>
                <a:cubicBezTo>
                  <a:pt x="261257" y="236485"/>
                  <a:pt x="253941" y="242888"/>
                  <a:pt x="244929" y="242888"/>
                </a:cubicBezTo>
                <a:cubicBezTo>
                  <a:pt x="235917" y="242888"/>
                  <a:pt x="228600" y="236485"/>
                  <a:pt x="228600" y="228600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97000" y="1651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0600" y="2057400"/>
            <a:ext cx="6565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ASP.NET Core 9.0, Entity Framework Core (Code-First), SQL Server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460500"/>
            <a:ext cx="7048500" cy="17145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45500" y="1460500"/>
            <a:ext cx="7048500" cy="508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741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923" y="714"/>
                </a:moveTo>
                <a:cubicBezTo>
                  <a:pt x="181928" y="-2203"/>
                  <a:pt x="172561" y="3691"/>
                  <a:pt x="169968" y="13811"/>
                </a:cubicBezTo>
                <a:lnTo>
                  <a:pt x="102235" y="280511"/>
                </a:lnTo>
                <a:cubicBezTo>
                  <a:pt x="99642" y="290632"/>
                  <a:pt x="104881" y="301169"/>
                  <a:pt x="113877" y="304086"/>
                </a:cubicBezTo>
                <a:cubicBezTo>
                  <a:pt x="122872" y="307003"/>
                  <a:pt x="132239" y="301109"/>
                  <a:pt x="134832" y="290989"/>
                </a:cubicBezTo>
                <a:lnTo>
                  <a:pt x="202565" y="24289"/>
                </a:lnTo>
                <a:cubicBezTo>
                  <a:pt x="205158" y="14168"/>
                  <a:pt x="199919" y="3631"/>
                  <a:pt x="190923" y="714"/>
                </a:cubicBezTo>
                <a:close/>
                <a:moveTo>
                  <a:pt x="225108" y="81736"/>
                </a:moveTo>
                <a:cubicBezTo>
                  <a:pt x="218493" y="89178"/>
                  <a:pt x="218493" y="101263"/>
                  <a:pt x="225108" y="108704"/>
                </a:cubicBezTo>
                <a:lnTo>
                  <a:pt x="263948" y="152400"/>
                </a:lnTo>
                <a:lnTo>
                  <a:pt x="225108" y="196096"/>
                </a:lnTo>
                <a:cubicBezTo>
                  <a:pt x="218493" y="203537"/>
                  <a:pt x="218493" y="215622"/>
                  <a:pt x="225108" y="223064"/>
                </a:cubicBezTo>
                <a:cubicBezTo>
                  <a:pt x="231722" y="230505"/>
                  <a:pt x="242464" y="230505"/>
                  <a:pt x="249079" y="223064"/>
                </a:cubicBezTo>
                <a:lnTo>
                  <a:pt x="299879" y="165914"/>
                </a:lnTo>
                <a:cubicBezTo>
                  <a:pt x="306493" y="158472"/>
                  <a:pt x="306493" y="146387"/>
                  <a:pt x="299879" y="138946"/>
                </a:cubicBezTo>
                <a:lnTo>
                  <a:pt x="249079" y="81796"/>
                </a:lnTo>
                <a:cubicBezTo>
                  <a:pt x="242464" y="74355"/>
                  <a:pt x="231722" y="74355"/>
                  <a:pt x="225108" y="81796"/>
                </a:cubicBezTo>
                <a:close/>
                <a:moveTo>
                  <a:pt x="79745" y="81736"/>
                </a:moveTo>
                <a:cubicBezTo>
                  <a:pt x="73131" y="74295"/>
                  <a:pt x="62389" y="74295"/>
                  <a:pt x="55774" y="81736"/>
                </a:cubicBezTo>
                <a:lnTo>
                  <a:pt x="4974" y="138886"/>
                </a:lnTo>
                <a:cubicBezTo>
                  <a:pt x="-1640" y="146328"/>
                  <a:pt x="-1640" y="158413"/>
                  <a:pt x="4974" y="165854"/>
                </a:cubicBezTo>
                <a:lnTo>
                  <a:pt x="55774" y="223004"/>
                </a:lnTo>
                <a:cubicBezTo>
                  <a:pt x="62389" y="230445"/>
                  <a:pt x="73131" y="230445"/>
                  <a:pt x="79745" y="223004"/>
                </a:cubicBezTo>
                <a:cubicBezTo>
                  <a:pt x="86360" y="215563"/>
                  <a:pt x="86360" y="203478"/>
                  <a:pt x="79745" y="196036"/>
                </a:cubicBezTo>
                <a:lnTo>
                  <a:pt x="40905" y="152400"/>
                </a:lnTo>
                <a:lnTo>
                  <a:pt x="79693" y="108704"/>
                </a:lnTo>
                <a:cubicBezTo>
                  <a:pt x="86307" y="101263"/>
                  <a:pt x="86307" y="89178"/>
                  <a:pt x="79693" y="81736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080500" y="1651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74100" y="2057400"/>
            <a:ext cx="6565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+ Vite, Tailwind CSS, i18next, Axios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492500"/>
            <a:ext cx="7048500" cy="17145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2000" y="3492500"/>
            <a:ext cx="7048500" cy="508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0600" y="370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97000" y="3683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90600" y="4089400"/>
            <a:ext cx="6565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JWT Bearer Tokens, BCrypt, Google OAuth 2.0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492500"/>
            <a:ext cx="7048500" cy="17145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45500" y="3492500"/>
            <a:ext cx="7048500" cy="508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74100" y="370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080500" y="3683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SERVICES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74100" y="4089400"/>
            <a:ext cx="65659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Gemini (CV Parsing), HuggingFace (Matching), Groq (Assessments)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2540000" cy="889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1498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62000" y="200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6000" y="1460500"/>
            <a:ext cx="2540000" cy="889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56000" y="1498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56000" y="200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Ref. Tables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2000" y="266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ENTITIES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073400"/>
          <a:ext cx="7112000" cy="254000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Entity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Purpose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User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Unified account with role discriminator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JobSeeker / Recruiter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Role-specific profile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 / Resume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Postings and parsed CV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Recommendation / Assessment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 matches and skill scores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8445500" y="266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 DECISIONS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597900" y="3251200"/>
            <a:ext cx="152400" cy="1524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890000" y="3111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User table with role discriminator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597900" y="3886200"/>
            <a:ext cx="152400" cy="1524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890000" y="3746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 delete pattern for data integrity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597900" y="4521200"/>
            <a:ext cx="152400" cy="1524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890000" y="4381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columns for flexible schema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2000" y="5905500"/>
            <a:ext cx="762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reference tables: Country, City, Language, JobTitle, FieldOfStudy, Skill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Functional Modules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46990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460500"/>
            <a:ext cx="4699000" cy="508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06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1600" y="57150"/>
                </a:moveTo>
                <a:lnTo>
                  <a:pt x="101600" y="95250"/>
                </a:lnTo>
                <a:lnTo>
                  <a:pt x="203200" y="95250"/>
                </a:lnTo>
                <a:lnTo>
                  <a:pt x="203200" y="57150"/>
                </a:lnTo>
                <a:cubicBezTo>
                  <a:pt x="203200" y="36135"/>
                  <a:pt x="180419" y="19050"/>
                  <a:pt x="152400" y="19050"/>
                </a:cubicBezTo>
                <a:cubicBezTo>
                  <a:pt x="124381" y="19050"/>
                  <a:pt x="101600" y="36135"/>
                  <a:pt x="101600" y="57150"/>
                </a:cubicBezTo>
                <a:close/>
                <a:moveTo>
                  <a:pt x="50800" y="95250"/>
                </a:moveTo>
                <a:lnTo>
                  <a:pt x="50800" y="57150"/>
                </a:lnTo>
                <a:cubicBezTo>
                  <a:pt x="50800" y="15061"/>
                  <a:pt x="96282" y="-19050"/>
                  <a:pt x="152400" y="-19050"/>
                </a:cubicBezTo>
                <a:cubicBezTo>
                  <a:pt x="208518" y="-19050"/>
                  <a:pt x="254000" y="15061"/>
                  <a:pt x="254000" y="57150"/>
                </a:cubicBezTo>
                <a:lnTo>
                  <a:pt x="254000" y="95250"/>
                </a:lnTo>
                <a:cubicBezTo>
                  <a:pt x="282019" y="95250"/>
                  <a:pt x="304800" y="112335"/>
                  <a:pt x="304800" y="13335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22781" y="95250"/>
                  <a:pt x="50800" y="95250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97000" y="165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2057400"/>
            <a:ext cx="421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Registration, verification, login, Google OAuth, lockout, password reset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78500" y="1460500"/>
            <a:ext cx="46990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78500" y="1460500"/>
            <a:ext cx="4699000" cy="508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071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147638"/>
                </a:moveTo>
                <a:cubicBezTo>
                  <a:pt x="197460" y="147638"/>
                  <a:pt x="234043" y="115627"/>
                  <a:pt x="234043" y="76200"/>
                </a:cubicBezTo>
                <a:cubicBezTo>
                  <a:pt x="234043" y="36773"/>
                  <a:pt x="197460" y="4763"/>
                  <a:pt x="152400" y="4763"/>
                </a:cubicBezTo>
                <a:cubicBezTo>
                  <a:pt x="107340" y="4763"/>
                  <a:pt x="70757" y="36773"/>
                  <a:pt x="70757" y="76200"/>
                </a:cubicBezTo>
                <a:cubicBezTo>
                  <a:pt x="70757" y="115627"/>
                  <a:pt x="107340" y="147638"/>
                  <a:pt x="152400" y="147638"/>
                </a:cubicBezTo>
                <a:close/>
                <a:moveTo>
                  <a:pt x="132193" y="180975"/>
                </a:moveTo>
                <a:cubicBezTo>
                  <a:pt x="65178" y="180975"/>
                  <a:pt x="10886" y="228481"/>
                  <a:pt x="10886" y="287119"/>
                </a:cubicBezTo>
                <a:cubicBezTo>
                  <a:pt x="10886" y="296882"/>
                  <a:pt x="19934" y="304800"/>
                  <a:pt x="31092" y="304800"/>
                </a:cubicBezTo>
                <a:lnTo>
                  <a:pt x="273708" y="304800"/>
                </a:lnTo>
                <a:cubicBezTo>
                  <a:pt x="284866" y="304800"/>
                  <a:pt x="293914" y="296882"/>
                  <a:pt x="293914" y="287119"/>
                </a:cubicBezTo>
                <a:cubicBezTo>
                  <a:pt x="293914" y="228481"/>
                  <a:pt x="239622" y="180975"/>
                  <a:pt x="172607" y="180975"/>
                </a:cubicBezTo>
                <a:lnTo>
                  <a:pt x="132193" y="180975"/>
                </a:ln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13500" y="165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Seeker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07100" y="2057400"/>
            <a:ext cx="421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wizard, CV parsing, dashboard, skill assessments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95000" y="1460500"/>
            <a:ext cx="46990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795000" y="1460500"/>
            <a:ext cx="4699000" cy="508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023600" y="167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0800" y="0"/>
                </a:moveTo>
                <a:cubicBezTo>
                  <a:pt x="22781" y="0"/>
                  <a:pt x="0" y="17085"/>
                  <a:pt x="0" y="38100"/>
                </a:cubicBezTo>
                <a:lnTo>
                  <a:pt x="0" y="266700"/>
                </a:lnTo>
                <a:cubicBezTo>
                  <a:pt x="0" y="287715"/>
                  <a:pt x="22781" y="304800"/>
                  <a:pt x="50800" y="304800"/>
                </a:cubicBezTo>
                <a:lnTo>
                  <a:pt x="254000" y="304800"/>
                </a:lnTo>
                <a:cubicBezTo>
                  <a:pt x="282019" y="304800"/>
                  <a:pt x="304800" y="287715"/>
                  <a:pt x="304800" y="266700"/>
                </a:cubicBezTo>
                <a:lnTo>
                  <a:pt x="304800" y="38100"/>
                </a:lnTo>
                <a:cubicBezTo>
                  <a:pt x="304800" y="17085"/>
                  <a:pt x="282019" y="0"/>
                  <a:pt x="254000" y="0"/>
                </a:cubicBezTo>
                <a:lnTo>
                  <a:pt x="50800" y="0"/>
                </a:lnTo>
                <a:close/>
                <a:moveTo>
                  <a:pt x="139700" y="209550"/>
                </a:moveTo>
                <a:lnTo>
                  <a:pt x="165100" y="209550"/>
                </a:lnTo>
                <a:cubicBezTo>
                  <a:pt x="179149" y="209550"/>
                  <a:pt x="190500" y="218063"/>
                  <a:pt x="190500" y="228600"/>
                </a:cubicBezTo>
                <a:lnTo>
                  <a:pt x="190500" y="276225"/>
                </a:lnTo>
                <a:lnTo>
                  <a:pt x="114300" y="276225"/>
                </a:lnTo>
                <a:lnTo>
                  <a:pt x="114300" y="228600"/>
                </a:lnTo>
                <a:cubicBezTo>
                  <a:pt x="114300" y="218063"/>
                  <a:pt x="125651" y="209550"/>
                  <a:pt x="139700" y="209550"/>
                </a:cubicBezTo>
                <a:close/>
                <a:moveTo>
                  <a:pt x="76200" y="66675"/>
                </a:moveTo>
                <a:cubicBezTo>
                  <a:pt x="76200" y="61436"/>
                  <a:pt x="81915" y="57150"/>
                  <a:pt x="88900" y="57150"/>
                </a:cubicBezTo>
                <a:lnTo>
                  <a:pt x="114300" y="57150"/>
                </a:lnTo>
                <a:cubicBezTo>
                  <a:pt x="121285" y="57150"/>
                  <a:pt x="127000" y="61436"/>
                  <a:pt x="127000" y="66675"/>
                </a:cubicBezTo>
                <a:lnTo>
                  <a:pt x="127000" y="85725"/>
                </a:lnTo>
                <a:cubicBezTo>
                  <a:pt x="127000" y="90964"/>
                  <a:pt x="121285" y="95250"/>
                  <a:pt x="114300" y="95250"/>
                </a:cubicBezTo>
                <a:lnTo>
                  <a:pt x="88900" y="95250"/>
                </a:lnTo>
                <a:cubicBezTo>
                  <a:pt x="81915" y="95250"/>
                  <a:pt x="76200" y="90964"/>
                  <a:pt x="76200" y="85725"/>
                </a:cubicBezTo>
                <a:lnTo>
                  <a:pt x="76200" y="66675"/>
                </a:lnTo>
                <a:close/>
                <a:moveTo>
                  <a:pt x="190500" y="57150"/>
                </a:moveTo>
                <a:lnTo>
                  <a:pt x="215900" y="57150"/>
                </a:lnTo>
                <a:cubicBezTo>
                  <a:pt x="222885" y="57150"/>
                  <a:pt x="228600" y="61436"/>
                  <a:pt x="228600" y="66675"/>
                </a:cubicBezTo>
                <a:lnTo>
                  <a:pt x="228600" y="85725"/>
                </a:lnTo>
                <a:cubicBezTo>
                  <a:pt x="228600" y="90964"/>
                  <a:pt x="222885" y="95250"/>
                  <a:pt x="215900" y="95250"/>
                </a:cubicBezTo>
                <a:lnTo>
                  <a:pt x="190500" y="95250"/>
                </a:lnTo>
                <a:cubicBezTo>
                  <a:pt x="183515" y="95250"/>
                  <a:pt x="177800" y="90964"/>
                  <a:pt x="177800" y="85725"/>
                </a:cubicBezTo>
                <a:lnTo>
                  <a:pt x="177800" y="66675"/>
                </a:lnTo>
                <a:cubicBezTo>
                  <a:pt x="177800" y="61436"/>
                  <a:pt x="183515" y="57150"/>
                  <a:pt x="190500" y="57150"/>
                </a:cubicBezTo>
                <a:close/>
                <a:moveTo>
                  <a:pt x="76200" y="142875"/>
                </a:moveTo>
                <a:cubicBezTo>
                  <a:pt x="76200" y="137636"/>
                  <a:pt x="81915" y="133350"/>
                  <a:pt x="88900" y="133350"/>
                </a:cubicBezTo>
                <a:lnTo>
                  <a:pt x="114300" y="133350"/>
                </a:lnTo>
                <a:cubicBezTo>
                  <a:pt x="121285" y="133350"/>
                  <a:pt x="127000" y="137636"/>
                  <a:pt x="127000" y="142875"/>
                </a:cubicBezTo>
                <a:lnTo>
                  <a:pt x="127000" y="161925"/>
                </a:lnTo>
                <a:cubicBezTo>
                  <a:pt x="127000" y="167164"/>
                  <a:pt x="121285" y="171450"/>
                  <a:pt x="114300" y="171450"/>
                </a:cubicBezTo>
                <a:lnTo>
                  <a:pt x="88900" y="171450"/>
                </a:lnTo>
                <a:cubicBezTo>
                  <a:pt x="81915" y="171450"/>
                  <a:pt x="76200" y="167164"/>
                  <a:pt x="76200" y="161925"/>
                </a:cubicBezTo>
                <a:lnTo>
                  <a:pt x="76200" y="142875"/>
                </a:lnTo>
                <a:close/>
                <a:moveTo>
                  <a:pt x="190500" y="133350"/>
                </a:moveTo>
                <a:lnTo>
                  <a:pt x="215900" y="133350"/>
                </a:lnTo>
                <a:cubicBezTo>
                  <a:pt x="222885" y="133350"/>
                  <a:pt x="228600" y="137636"/>
                  <a:pt x="228600" y="142875"/>
                </a:cubicBezTo>
                <a:lnTo>
                  <a:pt x="228600" y="161925"/>
                </a:lnTo>
                <a:cubicBezTo>
                  <a:pt x="228600" y="167164"/>
                  <a:pt x="222885" y="171450"/>
                  <a:pt x="215900" y="171450"/>
                </a:cubicBezTo>
                <a:lnTo>
                  <a:pt x="190500" y="171450"/>
                </a:lnTo>
                <a:cubicBezTo>
                  <a:pt x="183515" y="171450"/>
                  <a:pt x="177800" y="167164"/>
                  <a:pt x="177800" y="161925"/>
                </a:cubicBezTo>
                <a:lnTo>
                  <a:pt x="177800" y="142875"/>
                </a:lnTo>
                <a:cubicBezTo>
                  <a:pt x="177800" y="137636"/>
                  <a:pt x="183515" y="133350"/>
                  <a:pt x="190500" y="133350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00" y="165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23600" y="2057400"/>
            <a:ext cx="421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Company profile, job management, AI matching, shortlisting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3302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2000" y="3302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90600" y="3517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cubicBezTo>
                  <a:pt x="167640" y="-10537"/>
                  <a:pt x="160830" y="-19050"/>
                  <a:pt x="152400" y="-19050"/>
                </a:cubicBezTo>
                <a:cubicBezTo>
                  <a:pt x="143970" y="-19050"/>
                  <a:pt x="137160" y="-10537"/>
                  <a:pt x="137160" y="0"/>
                </a:cubicBezTo>
                <a:lnTo>
                  <a:pt x="137160" y="38100"/>
                </a:lnTo>
                <a:lnTo>
                  <a:pt x="91440" y="38100"/>
                </a:lnTo>
                <a:cubicBezTo>
                  <a:pt x="66199" y="38100"/>
                  <a:pt x="45720" y="63698"/>
                  <a:pt x="45720" y="95250"/>
                </a:cubicBezTo>
                <a:lnTo>
                  <a:pt x="45720" y="228600"/>
                </a:lnTo>
                <a:cubicBezTo>
                  <a:pt x="45720" y="260152"/>
                  <a:pt x="66199" y="285750"/>
                  <a:pt x="91440" y="285750"/>
                </a:cubicBezTo>
                <a:lnTo>
                  <a:pt x="213360" y="285750"/>
                </a:lnTo>
                <a:cubicBezTo>
                  <a:pt x="238601" y="285750"/>
                  <a:pt x="259080" y="260152"/>
                  <a:pt x="259080" y="228600"/>
                </a:cubicBezTo>
                <a:lnTo>
                  <a:pt x="259080" y="95250"/>
                </a:lnTo>
                <a:cubicBezTo>
                  <a:pt x="259080" y="63698"/>
                  <a:pt x="238601" y="38100"/>
                  <a:pt x="213360" y="38100"/>
                </a:cubicBezTo>
                <a:lnTo>
                  <a:pt x="167640" y="38100"/>
                </a:lnTo>
                <a:lnTo>
                  <a:pt x="167640" y="0"/>
                </a:lnTo>
                <a:close/>
                <a:moveTo>
                  <a:pt x="76200" y="219075"/>
                </a:moveTo>
                <a:cubicBezTo>
                  <a:pt x="76200" y="211157"/>
                  <a:pt x="81296" y="204787"/>
                  <a:pt x="87630" y="204787"/>
                </a:cubicBezTo>
                <a:lnTo>
                  <a:pt x="102870" y="204787"/>
                </a:lnTo>
                <a:cubicBezTo>
                  <a:pt x="109204" y="204787"/>
                  <a:pt x="114300" y="211157"/>
                  <a:pt x="114300" y="219075"/>
                </a:cubicBezTo>
                <a:cubicBezTo>
                  <a:pt x="114300" y="226993"/>
                  <a:pt x="109204" y="233363"/>
                  <a:pt x="102870" y="233363"/>
                </a:cubicBezTo>
                <a:lnTo>
                  <a:pt x="87630" y="233363"/>
                </a:lnTo>
                <a:cubicBezTo>
                  <a:pt x="81296" y="233363"/>
                  <a:pt x="76200" y="226993"/>
                  <a:pt x="76200" y="219075"/>
                </a:cubicBezTo>
                <a:close/>
                <a:moveTo>
                  <a:pt x="133350" y="219075"/>
                </a:moveTo>
                <a:cubicBezTo>
                  <a:pt x="133350" y="211157"/>
                  <a:pt x="138446" y="204787"/>
                  <a:pt x="144780" y="204787"/>
                </a:cubicBezTo>
                <a:lnTo>
                  <a:pt x="160020" y="204787"/>
                </a:lnTo>
                <a:cubicBezTo>
                  <a:pt x="166354" y="204787"/>
                  <a:pt x="171450" y="211157"/>
                  <a:pt x="171450" y="219075"/>
                </a:cubicBezTo>
                <a:cubicBezTo>
                  <a:pt x="171450" y="226993"/>
                  <a:pt x="166354" y="233363"/>
                  <a:pt x="160020" y="233363"/>
                </a:cubicBezTo>
                <a:lnTo>
                  <a:pt x="144780" y="233363"/>
                </a:lnTo>
                <a:cubicBezTo>
                  <a:pt x="138446" y="233363"/>
                  <a:pt x="133350" y="226993"/>
                  <a:pt x="133350" y="219075"/>
                </a:cubicBezTo>
                <a:close/>
                <a:moveTo>
                  <a:pt x="190500" y="219075"/>
                </a:moveTo>
                <a:cubicBezTo>
                  <a:pt x="190500" y="211157"/>
                  <a:pt x="195596" y="204787"/>
                  <a:pt x="201930" y="204787"/>
                </a:cubicBezTo>
                <a:lnTo>
                  <a:pt x="217170" y="204787"/>
                </a:lnTo>
                <a:cubicBezTo>
                  <a:pt x="223504" y="204787"/>
                  <a:pt x="228600" y="211157"/>
                  <a:pt x="228600" y="219075"/>
                </a:cubicBezTo>
                <a:cubicBezTo>
                  <a:pt x="228600" y="226993"/>
                  <a:pt x="223504" y="233363"/>
                  <a:pt x="217170" y="233363"/>
                </a:cubicBezTo>
                <a:lnTo>
                  <a:pt x="201930" y="233363"/>
                </a:lnTo>
                <a:cubicBezTo>
                  <a:pt x="195596" y="233363"/>
                  <a:pt x="190500" y="226993"/>
                  <a:pt x="190500" y="219075"/>
                </a:cubicBezTo>
                <a:close/>
                <a:moveTo>
                  <a:pt x="106680" y="104775"/>
                </a:moveTo>
                <a:cubicBezTo>
                  <a:pt x="119297" y="104775"/>
                  <a:pt x="129540" y="117579"/>
                  <a:pt x="129540" y="133350"/>
                </a:cubicBezTo>
                <a:cubicBezTo>
                  <a:pt x="129540" y="149121"/>
                  <a:pt x="119297" y="161925"/>
                  <a:pt x="106680" y="161925"/>
                </a:cubicBezTo>
                <a:cubicBezTo>
                  <a:pt x="94063" y="161925"/>
                  <a:pt x="83820" y="149121"/>
                  <a:pt x="83820" y="133350"/>
                </a:cubicBezTo>
                <a:cubicBezTo>
                  <a:pt x="83820" y="117579"/>
                  <a:pt x="94063" y="104775"/>
                  <a:pt x="106680" y="104775"/>
                </a:cubicBezTo>
                <a:close/>
                <a:moveTo>
                  <a:pt x="175260" y="133350"/>
                </a:moveTo>
                <a:cubicBezTo>
                  <a:pt x="175260" y="117579"/>
                  <a:pt x="185503" y="104775"/>
                  <a:pt x="198120" y="104775"/>
                </a:cubicBezTo>
                <a:cubicBezTo>
                  <a:pt x="210737" y="104775"/>
                  <a:pt x="220980" y="117579"/>
                  <a:pt x="220980" y="133350"/>
                </a:cubicBezTo>
                <a:cubicBezTo>
                  <a:pt x="220980" y="149121"/>
                  <a:pt x="210737" y="161925"/>
                  <a:pt x="198120" y="161925"/>
                </a:cubicBezTo>
                <a:cubicBezTo>
                  <a:pt x="185503" y="161925"/>
                  <a:pt x="175260" y="149121"/>
                  <a:pt x="175260" y="133350"/>
                </a:cubicBezTo>
                <a:close/>
                <a:moveTo>
                  <a:pt x="30480" y="133350"/>
                </a:moveTo>
                <a:cubicBezTo>
                  <a:pt x="30480" y="122813"/>
                  <a:pt x="23670" y="114300"/>
                  <a:pt x="15240" y="114300"/>
                </a:cubicBezTo>
                <a:cubicBezTo>
                  <a:pt x="6810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6810" y="209550"/>
                  <a:pt x="15240" y="209550"/>
                </a:cubicBezTo>
                <a:cubicBezTo>
                  <a:pt x="23670" y="209550"/>
                  <a:pt x="30480" y="201037"/>
                  <a:pt x="30480" y="190500"/>
                </a:cubicBezTo>
                <a:lnTo>
                  <a:pt x="30480" y="133350"/>
                </a:lnTo>
                <a:close/>
                <a:moveTo>
                  <a:pt x="289560" y="114300"/>
                </a:moveTo>
                <a:cubicBezTo>
                  <a:pt x="281130" y="114300"/>
                  <a:pt x="274320" y="122813"/>
                  <a:pt x="274320" y="133350"/>
                </a:cubicBezTo>
                <a:lnTo>
                  <a:pt x="274320" y="190500"/>
                </a:lnTo>
                <a:cubicBezTo>
                  <a:pt x="274320" y="201037"/>
                  <a:pt x="281130" y="209550"/>
                  <a:pt x="289560" y="209550"/>
                </a:cubicBezTo>
                <a:cubicBezTo>
                  <a:pt x="297990" y="209550"/>
                  <a:pt x="304800" y="201037"/>
                  <a:pt x="304800" y="190500"/>
                </a:cubicBezTo>
                <a:lnTo>
                  <a:pt x="304800" y="133350"/>
                </a:lnTo>
                <a:cubicBezTo>
                  <a:pt x="304800" y="122813"/>
                  <a:pt x="297990" y="114300"/>
                  <a:pt x="289560" y="114300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97000" y="3492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38989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Gemini (CV Parsing), HuggingFace (Candidate Matching), Groq (Assessment Generation)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45500" y="3302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45500" y="3302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674100" y="3517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40358" y="0"/>
                  <a:pt x="130629" y="8513"/>
                  <a:pt x="130629" y="19050"/>
                </a:cubicBezTo>
                <a:lnTo>
                  <a:pt x="130629" y="20955"/>
                </a:lnTo>
                <a:cubicBezTo>
                  <a:pt x="80962" y="29766"/>
                  <a:pt x="43543" y="68223"/>
                  <a:pt x="43543" y="114300"/>
                </a:cubicBezTo>
                <a:lnTo>
                  <a:pt x="43543" y="127218"/>
                </a:lnTo>
                <a:cubicBezTo>
                  <a:pt x="43543" y="155853"/>
                  <a:pt x="32385" y="183654"/>
                  <a:pt x="11974" y="206038"/>
                </a:cubicBezTo>
                <a:lnTo>
                  <a:pt x="5307" y="213300"/>
                </a:lnTo>
                <a:cubicBezTo>
                  <a:pt x="1837" y="217051"/>
                  <a:pt x="0" y="221694"/>
                  <a:pt x="0" y="226516"/>
                </a:cubicBezTo>
                <a:cubicBezTo>
                  <a:pt x="0" y="238185"/>
                  <a:pt x="10818" y="247650"/>
                  <a:pt x="24153" y="247650"/>
                </a:cubicBezTo>
                <a:lnTo>
                  <a:pt x="280579" y="247650"/>
                </a:lnTo>
                <a:cubicBezTo>
                  <a:pt x="293914" y="247650"/>
                  <a:pt x="304732" y="238185"/>
                  <a:pt x="304732" y="226516"/>
                </a:cubicBezTo>
                <a:cubicBezTo>
                  <a:pt x="304732" y="221694"/>
                  <a:pt x="302895" y="217051"/>
                  <a:pt x="299425" y="213300"/>
                </a:cubicBezTo>
                <a:lnTo>
                  <a:pt x="292758" y="206038"/>
                </a:lnTo>
                <a:cubicBezTo>
                  <a:pt x="272415" y="183654"/>
                  <a:pt x="261257" y="155853"/>
                  <a:pt x="261257" y="127218"/>
                </a:cubicBezTo>
                <a:lnTo>
                  <a:pt x="261257" y="114300"/>
                </a:lnTo>
                <a:cubicBezTo>
                  <a:pt x="261257" y="68223"/>
                  <a:pt x="223838" y="29766"/>
                  <a:pt x="174171" y="20955"/>
                </a:cubicBezTo>
                <a:lnTo>
                  <a:pt x="174171" y="19050"/>
                </a:lnTo>
                <a:cubicBezTo>
                  <a:pt x="174171" y="8513"/>
                  <a:pt x="164442" y="0"/>
                  <a:pt x="152400" y="0"/>
                </a:cubicBezTo>
                <a:close/>
                <a:moveTo>
                  <a:pt x="110218" y="276225"/>
                </a:moveTo>
                <a:cubicBezTo>
                  <a:pt x="115048" y="292656"/>
                  <a:pt x="132125" y="304800"/>
                  <a:pt x="152400" y="304800"/>
                </a:cubicBezTo>
                <a:cubicBezTo>
                  <a:pt x="172675" y="304800"/>
                  <a:pt x="189752" y="292656"/>
                  <a:pt x="194582" y="276225"/>
                </a:cubicBezTo>
                <a:lnTo>
                  <a:pt x="110218" y="276225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080500" y="3492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&amp; Notifications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74100" y="3898900"/>
            <a:ext cx="65659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Analytics tracking, weekly digest emails, in-app alerts and notifications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Introduction</a:t>
            </a:r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Problem &amp; Objectives</a:t>
            </a:r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Proposed Solution</a:t>
            </a:r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System Design</a:t>
            </a:r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</a:rPr>
              <a:t>Implementation</a:t>
            </a:r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Results &amp; Conclusion</a:t>
            </a:r>
          </a:p>
        </p:txBody>
      </p:sp>
      <p:sp>
        <p:nvSpPr>
          <p:cNvPr id="10" name="Title"/>
          <p:cNvSpPr/>
          <p:nvPr/>
        </p:nvSpPr>
        <p:spPr>
          <a:xfrm>
            <a:off x="762000" y="635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</a:rPr>
              <a:t>AI Hybrid RAG Architecture</a:t>
            </a:r>
          </a:p>
        </p:txBody>
      </p:sp>
      <p:sp>
        <p:nvSpPr>
          <p:cNvPr id="11" name="Phase1Box"/>
          <p:cNvSpPr/>
          <p:nvPr/>
        </p:nvSpPr>
        <p:spPr>
          <a:xfrm>
            <a:off x="762000" y="1422400"/>
            <a:ext cx="4648200" cy="6731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Phase1Label"/>
          <p:cNvSpPr/>
          <p:nvPr/>
        </p:nvSpPr>
        <p:spPr>
          <a:xfrm>
            <a:off x="889000" y="1524000"/>
            <a:ext cx="4394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</a:rPr>
              <a:t>Phase 1</a:t>
            </a:r>
          </a:p>
        </p:txBody>
      </p:sp>
      <p:sp>
        <p:nvSpPr>
          <p:cNvPr id="13" name="Phase1Sub"/>
          <p:cNvSpPr/>
          <p:nvPr/>
        </p:nvSpPr>
        <p:spPr>
          <a:xfrm>
            <a:off x="889000" y="1981200"/>
            <a:ext cx="4394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A7D7C5"/>
                </a:solidFill>
                <a:latin typeface="Quattrocento Sans" pitchFamily="34" charset="0"/>
              </a:rPr>
              <a:t>Deterministic Filtering Layer</a:t>
            </a:r>
          </a:p>
        </p:txBody>
      </p:sp>
      <p:sp>
        <p:nvSpPr>
          <p:cNvPr id="14" name="Phase1Desc"/>
          <p:cNvSpPr/>
          <p:nvPr/>
        </p:nvSpPr>
        <p:spPr>
          <a:xfrm>
            <a:off x="889000" y="2540000"/>
            <a:ext cx="4394200" cy="38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8F5F0"/>
                </a:solidFill>
                <a:latin typeface="Quattrocento Sans" pitchFamily="34" charset="0"/>
              </a:rPr>
              <a:t>Early screening layer for hard constraints like minimum required years of experience.</a:t>
            </a:r>
          </a:p>
        </p:txBody>
      </p:sp>
      <p:sp>
        <p:nvSpPr>
          <p:cNvPr id="15" name="Phase2Box"/>
          <p:cNvSpPr/>
          <p:nvPr/>
        </p:nvSpPr>
        <p:spPr>
          <a:xfrm>
            <a:off x="5715000" y="1422400"/>
            <a:ext cx="4648200" cy="6731000"/>
          </a:xfrm>
          <a:prstGeom prst="rect">
            <a:avLst/>
          </a:prstGeom>
          <a:solidFill>
            <a:srgbClr val="2C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Phase2Label"/>
          <p:cNvSpPr/>
          <p:nvPr/>
        </p:nvSpPr>
        <p:spPr>
          <a:xfrm>
            <a:off x="5842000" y="1524000"/>
            <a:ext cx="4394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</a:rPr>
              <a:t>Phase 2</a:t>
            </a:r>
          </a:p>
        </p:txBody>
      </p:sp>
      <p:sp>
        <p:nvSpPr>
          <p:cNvPr id="17" name="Phase2Sub"/>
          <p:cNvSpPr/>
          <p:nvPr/>
        </p:nvSpPr>
        <p:spPr>
          <a:xfrm>
            <a:off x="5842000" y="1981200"/>
            <a:ext cx="43942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A7D7C5"/>
                </a:solidFill>
                <a:latin typeface="Quattrocento Sans" pitchFamily="34" charset="0"/>
              </a:rPr>
              <a:t>Hybrid Metric Evaluation Layer</a:t>
            </a:r>
          </a:p>
        </p:txBody>
      </p:sp>
      <p:sp>
        <p:nvSpPr>
          <p:cNvPr id="18" name="Phase2Desc"/>
          <p:cNvSpPr/>
          <p:nvPr/>
        </p:nvSpPr>
        <p:spPr>
          <a:xfrm>
            <a:off x="5842000" y="2540000"/>
            <a:ext cx="4394200" cy="38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8F5F0"/>
                </a:solidFill>
                <a:latin typeface="Quattrocento Sans" pitchFamily="34" charset="0"/>
              </a:rPr>
              <a:t>Local feature extraction, exact skill mapping, and high-dimensional semantic vector comparison.</a:t>
            </a:r>
          </a:p>
        </p:txBody>
      </p:sp>
      <p:sp>
        <p:nvSpPr>
          <p:cNvPr id="19" name="Phase3Box"/>
          <p:cNvSpPr/>
          <p:nvPr/>
        </p:nvSpPr>
        <p:spPr>
          <a:xfrm>
            <a:off x="10668000" y="1422400"/>
            <a:ext cx="4826000" cy="6731000"/>
          </a:xfrm>
          <a:prstGeom prst="rect">
            <a:avLst/>
          </a:prstGeom>
          <a:solidFill>
            <a:srgbClr val="3D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Phase3Label"/>
          <p:cNvSpPr/>
          <p:nvPr/>
        </p:nvSpPr>
        <p:spPr>
          <a:xfrm>
            <a:off x="10795000" y="1524000"/>
            <a:ext cx="45720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</a:rPr>
              <a:t>Phase 3</a:t>
            </a:r>
          </a:p>
        </p:txBody>
      </p:sp>
      <p:sp>
        <p:nvSpPr>
          <p:cNvPr id="21" name="Phase3Sub"/>
          <p:cNvSpPr/>
          <p:nvPr/>
        </p:nvSpPr>
        <p:spPr>
          <a:xfrm>
            <a:off x="10795000" y="1981200"/>
            <a:ext cx="45720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A7D7C5"/>
                </a:solidFill>
                <a:latin typeface="Quattrocento Sans" pitchFamily="34" charset="0"/>
              </a:rPr>
              <a:t>Augmentation &amp; Linguistic Synthesis Layer</a:t>
            </a:r>
          </a:p>
        </p:txBody>
      </p:sp>
      <p:sp>
        <p:nvSpPr>
          <p:cNvPr id="22" name="Phase3Desc"/>
          <p:cNvSpPr/>
          <p:nvPr/>
        </p:nvSpPr>
        <p:spPr>
          <a:xfrm>
            <a:off x="10795000" y="2540000"/>
            <a:ext cx="4572000" cy="38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8F5F0"/>
                </a:solidFill>
                <a:latin typeface="Quattrocento Sans" pitchFamily="34" charset="0"/>
              </a:rPr>
              <a:t>Controlled contextual data payload delivery to external LLM via Groq API.</a:t>
            </a:r>
          </a:p>
        </p:txBody>
      </p:sp>
      <p:sp>
        <p:nvSpPr>
          <p:cNvPr id="23" name="FooterLine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FooterLeft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</a:rPr>
              <a:t>EELU - FCIT 2026</a:t>
            </a:r>
          </a:p>
        </p:txBody>
      </p:sp>
      <p:sp>
        <p:nvSpPr>
          <p:cNvPr id="25" name="FooterRight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</a:rPr>
              <a:t>20 / 33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Nav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Introduction</a:t>
            </a:r>
          </a:p>
        </p:txBody>
      </p:sp>
      <p:sp>
        <p:nvSpPr>
          <p:cNvPr id="5" name="Nav2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Problem &amp; Objectives</a:t>
            </a:r>
          </a:p>
        </p:txBody>
      </p:sp>
      <p:sp>
        <p:nvSpPr>
          <p:cNvPr id="6" name="Nav3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Proposed Solution</a:t>
            </a:r>
          </a:p>
        </p:txBody>
      </p:sp>
      <p:sp>
        <p:nvSpPr>
          <p:cNvPr id="7" name="Nav4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System Design</a:t>
            </a:r>
          </a:p>
        </p:txBody>
      </p:sp>
      <p:sp>
        <p:nvSpPr>
          <p:cNvPr id="8" name="Nav5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</a:rPr>
              <a:t>Implementation</a:t>
            </a:r>
          </a:p>
        </p:txBody>
      </p:sp>
      <p:sp>
        <p:nvSpPr>
          <p:cNvPr id="9" name="Nav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Results &amp; Conclusion</a:t>
            </a:r>
          </a:p>
        </p:txBody>
      </p:sp>
      <p:sp>
        <p:nvSpPr>
          <p:cNvPr id="10" name="Title"/>
          <p:cNvSpPr/>
          <p:nvPr/>
        </p:nvSpPr>
        <p:spPr>
          <a:xfrm>
            <a:off x="762000" y="635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</a:rPr>
              <a:t>Multi-Factor Ranking Equation</a:t>
            </a:r>
          </a:p>
        </p:txBody>
      </p:sp>
      <p:sp>
        <p:nvSpPr>
          <p:cNvPr id="11" name="EqBanner"/>
          <p:cNvSpPr/>
          <p:nvPr/>
        </p:nvSpPr>
        <p:spPr>
          <a:xfrm>
            <a:off x="762000" y="1422400"/>
            <a:ext cx="14732000" cy="635000"/>
          </a:xfrm>
          <a:prstGeom prst="rect">
            <a:avLst/>
          </a:prstGeom>
          <a:solidFill>
            <a:srgbClr val="1E4D4D"/>
          </a:solidFill>
          <a:ln/>
        </p:spPr>
        <p:txBody>
          <a:bodyPr wrap="square" lIns="182880" tIns="91440" rIns="182880" bIns="9144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A7D7C5"/>
                </a:solidFill>
                <a:latin typeface="Courier New" pitchFamily="49" charset="0"/>
              </a:rPr>
              <a:t>Final_Score = w1 * SkillMatch + w2 * SemanticSimilarity + w3 * TestGrade</a:t>
            </a:r>
          </a:p>
        </p:txBody>
      </p:sp>
      <p:sp>
        <p:nvSpPr>
          <p:cNvPr id="12" name="F1Box"/>
          <p:cNvSpPr/>
          <p:nvPr/>
        </p:nvSpPr>
        <p:spPr>
          <a:xfrm>
            <a:off x="762000" y="2235200"/>
            <a:ext cx="4648200" cy="596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F1Accent"/>
          <p:cNvSpPr/>
          <p:nvPr/>
        </p:nvSpPr>
        <p:spPr>
          <a:xfrm>
            <a:off x="762000" y="2235200"/>
            <a:ext cx="4648200" cy="330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F1Title"/>
          <p:cNvSpPr/>
          <p:nvPr/>
        </p:nvSpPr>
        <p:spPr>
          <a:xfrm>
            <a:off x="889000" y="2235200"/>
            <a:ext cx="4394200" cy="33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</a:rPr>
              <a:t>Canonical Skill Overlap</a:t>
            </a:r>
          </a:p>
        </p:txBody>
      </p:sp>
      <p:sp>
        <p:nvSpPr>
          <p:cNvPr id="15" name="F1Desc"/>
          <p:cNvSpPr/>
          <p:nvPr/>
        </p:nvSpPr>
        <p:spPr>
          <a:xfrm>
            <a:off x="889000" y="2692400"/>
            <a:ext cx="4394200" cy="4369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</a:rPr>
              <a:t>Exact token matching backed by automated lowercase text normalization to resolve casing variations.</a:t>
            </a:r>
          </a:p>
        </p:txBody>
      </p:sp>
      <p:sp>
        <p:nvSpPr>
          <p:cNvPr id="16" name="F2Box"/>
          <p:cNvSpPr/>
          <p:nvPr/>
        </p:nvSpPr>
        <p:spPr>
          <a:xfrm>
            <a:off x="5715000" y="2235200"/>
            <a:ext cx="4648200" cy="596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C6B6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F2Accent"/>
          <p:cNvSpPr/>
          <p:nvPr/>
        </p:nvSpPr>
        <p:spPr>
          <a:xfrm>
            <a:off x="5715000" y="2235200"/>
            <a:ext cx="4648200" cy="330200"/>
          </a:xfrm>
          <a:prstGeom prst="rect">
            <a:avLst/>
          </a:prstGeom>
          <a:solidFill>
            <a:srgbClr val="2C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F2Title"/>
          <p:cNvSpPr/>
          <p:nvPr/>
        </p:nvSpPr>
        <p:spPr>
          <a:xfrm>
            <a:off x="5842000" y="2235200"/>
            <a:ext cx="4394200" cy="33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</a:rPr>
              <a:t>Semantic Proximity</a:t>
            </a:r>
          </a:p>
        </p:txBody>
      </p:sp>
      <p:sp>
        <p:nvSpPr>
          <p:cNvPr id="19" name="F2Desc"/>
          <p:cNvSpPr/>
          <p:nvPr/>
        </p:nvSpPr>
        <p:spPr>
          <a:xfrm>
            <a:off x="5842000" y="2692400"/>
            <a:ext cx="4394200" cy="4369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</a:rPr>
              <a:t>Local SentenceTransformer deployment calculating Cosine Similarity across biographical text fields.</a:t>
            </a:r>
          </a:p>
        </p:txBody>
      </p:sp>
      <p:sp>
        <p:nvSpPr>
          <p:cNvPr id="20" name="F3Box"/>
          <p:cNvSpPr/>
          <p:nvPr/>
        </p:nvSpPr>
        <p:spPr>
          <a:xfrm>
            <a:off x="10668000" y="2235200"/>
            <a:ext cx="4826000" cy="59690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8B8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F3Accent"/>
          <p:cNvSpPr/>
          <p:nvPr/>
        </p:nvSpPr>
        <p:spPr>
          <a:xfrm>
            <a:off x="10668000" y="2235200"/>
            <a:ext cx="4826000" cy="330200"/>
          </a:xfrm>
          <a:prstGeom prst="rect">
            <a:avLst/>
          </a:prstGeom>
          <a:solidFill>
            <a:srgbClr val="3D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F3Title"/>
          <p:cNvSpPr/>
          <p:nvPr/>
        </p:nvSpPr>
        <p:spPr>
          <a:xfrm>
            <a:off x="10795000" y="2235200"/>
            <a:ext cx="4572000" cy="330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</a:rPr>
              <a:t>Empirical Validation</a:t>
            </a:r>
          </a:p>
        </p:txBody>
      </p:sp>
      <p:sp>
        <p:nvSpPr>
          <p:cNvPr id="23" name="F3Desc"/>
          <p:cNvSpPr/>
          <p:nvPr/>
        </p:nvSpPr>
        <p:spPr>
          <a:xfrm>
            <a:off x="10795000" y="2692400"/>
            <a:ext cx="4572000" cy="4369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</a:rPr>
              <a:t>Integration of verified dynamic examination outcomes directly into the primary mathematical scoring array.</a:t>
            </a:r>
          </a:p>
        </p:txBody>
      </p:sp>
      <p:sp>
        <p:nvSpPr>
          <p:cNvPr id="24" name="FooterLine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FooterLeft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</a:rPr>
              <a:t>EELU - FCIT 2026</a:t>
            </a:r>
          </a:p>
        </p:txBody>
      </p:sp>
      <p:sp>
        <p:nvSpPr>
          <p:cNvPr id="26" name="FooterRight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</a:rPr>
              <a:t>21 / 33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423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Nav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Introduction</a:t>
            </a:r>
          </a:p>
        </p:txBody>
      </p:sp>
      <p:sp>
        <p:nvSpPr>
          <p:cNvPr id="5" name="Nav2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Problem &amp; Objectives</a:t>
            </a:r>
          </a:p>
        </p:txBody>
      </p:sp>
      <p:sp>
        <p:nvSpPr>
          <p:cNvPr id="6" name="Nav3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Proposed Solution</a:t>
            </a:r>
          </a:p>
        </p:txBody>
      </p:sp>
      <p:sp>
        <p:nvSpPr>
          <p:cNvPr id="7" name="Nav4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System Design</a:t>
            </a:r>
          </a:p>
        </p:txBody>
      </p:sp>
      <p:sp>
        <p:nvSpPr>
          <p:cNvPr id="8" name="Nav5Active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</a:rPr>
              <a:t>Implementation</a:t>
            </a:r>
          </a:p>
        </p:txBody>
      </p:sp>
      <p:sp>
        <p:nvSpPr>
          <p:cNvPr id="9" name="Nav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Results &amp; Conclusion</a:t>
            </a:r>
          </a:p>
        </p:txBody>
      </p:sp>
      <p:sp>
        <p:nvSpPr>
          <p:cNvPr id="10" name="Title"/>
          <p:cNvSpPr/>
          <p:nvPr/>
        </p:nvSpPr>
        <p:spPr>
          <a:xfrm>
            <a:off x="762000" y="635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</a:rPr>
              <a:t>Groq API &amp; Contextual RAG Synthesis</a:t>
            </a:r>
          </a:p>
        </p:txBody>
      </p:sp>
      <p:sp>
        <p:nvSpPr>
          <p:cNvPr id="11" name="LeftPanel"/>
          <p:cNvSpPr/>
          <p:nvPr/>
        </p:nvSpPr>
        <p:spPr>
          <a:xfrm>
            <a:off x="762000" y="1422400"/>
            <a:ext cx="7239000" cy="71128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LeftContent"/>
          <p:cNvSpPr/>
          <p:nvPr/>
        </p:nvSpPr>
        <p:spPr>
          <a:xfrm>
            <a:off x="1016000" y="1524000"/>
            <a:ext cx="6731000" cy="68588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A7D7C5"/>
                </a:solidFill>
                <a:latin typeface="Quattrocento Sans" pitchFamily="34" charset="0"/>
              </a:rPr>
              <a:t>Strict RAG Control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E8F5F0"/>
                </a:solidFill>
                <a:latin typeface="Quattrocento Sans" pitchFamily="34" charset="0"/>
              </a:rPr>
              <a:t>Eliminating generative model hallucinations by processing structural features and math calculations locally in Python.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A7D7C5"/>
                </a:solidFill>
                <a:latin typeface="Quattrocento Sans" pitchFamily="34" charset="0"/>
              </a:rPr>
              <a:t>Context Injection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E8F5F0"/>
                </a:solidFill>
                <a:latin typeface="Quattrocento Sans" pitchFamily="34" charset="0"/>
              </a:rPr>
              <a:t>Injecting fixed empirical statistics, matching attributes, and missing tags directly into the structured prompt schema.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A7D7C5"/>
                </a:solidFill>
                <a:latin typeface="Quattrocento Sans" pitchFamily="34" charset="0"/>
              </a:rPr>
              <a:t>Linguistic Reasoner Core</a:t>
            </a:r>
          </a:p>
          <a:p>
            <a:pPr algn="l">
              <a:lnSpc>
                <a:spcPct val="140000"/>
              </a:lnSpc>
              <a:spcBef>
                <a:spcPts val="200"/>
              </a:spcBef>
            </a:pPr>
            <a:r>
              <a:rPr lang="en-US" sz="1400" dirty="0">
                <a:solidFill>
                  <a:srgbClr val="E8F5F0"/>
                </a:solidFill>
                <a:latin typeface="Quattrocento Sans" pitchFamily="34" charset="0"/>
              </a:rPr>
              <a:t>llama-3.3-70b-versatile via Groq translates static parameters into descriptive recruiter insights.</a:t>
            </a:r>
          </a:p>
        </p:txBody>
      </p:sp>
      <p:sp>
        <p:nvSpPr>
          <p:cNvPr id="13" name="RightPanel"/>
          <p:cNvSpPr/>
          <p:nvPr/>
        </p:nvSpPr>
        <p:spPr>
          <a:xfrm>
            <a:off x="8255000" y="1422400"/>
            <a:ext cx="7239000" cy="711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D4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ModelAccent"/>
          <p:cNvSpPr/>
          <p:nvPr/>
        </p:nvSpPr>
        <p:spPr>
          <a:xfrm>
            <a:off x="8255000" y="1422400"/>
            <a:ext cx="7239000" cy="508000"/>
          </a:xfrm>
          <a:prstGeom prst="rect">
            <a:avLst/>
          </a:prstGeom>
          <a:solidFill>
            <a:srgbClr val="2C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ModelLabel"/>
          <p:cNvSpPr/>
          <p:nvPr/>
        </p:nvSpPr>
        <p:spPr>
          <a:xfrm>
            <a:off x="8509000" y="1422400"/>
            <a:ext cx="6985000" cy="508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urier New" pitchFamily="49" charset="0"/>
              </a:rPr>
              <a:t>Model: llama-3.3-70b-versatile</a:t>
            </a:r>
          </a:p>
        </p:txBody>
      </p:sp>
      <p:sp>
        <p:nvSpPr>
          <p:cNvPr id="16" name="ZeroHallBox"/>
          <p:cNvSpPr/>
          <p:nvPr/>
        </p:nvSpPr>
        <p:spPr>
          <a:xfrm>
            <a:off x="8509000" y="2108200"/>
            <a:ext cx="6731000" cy="508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800" b="1" dirty="0">
                <a:solidFill>
                  <a:srgbClr val="1E4D4D"/>
                </a:solidFill>
                <a:latin typeface="Quattrocento Sans" pitchFamily="34" charset="0"/>
              </a:rPr>
              <a:t>Zero-Hallucination Design</a:t>
            </a:r>
          </a:p>
          <a:p>
            <a:pPr algn="l">
              <a:lnSpc>
                <a:spcPct val="14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</a:rPr>
              <a:t>All numerical scoring and feature extraction runs locally in Python before any data reaches the LLM. The model only receives pre-validated, fixed parameters — it cannot fabricate scores or candidate data.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C6B6B"/>
                </a:solidFill>
                <a:latin typeface="Quattrocento Sans" pitchFamily="34" charset="0"/>
              </a:rPr>
              <a:t>Pipeline: Python scoring → RAG context build → Groq prompt → Recruiter insight</a:t>
            </a:r>
          </a:p>
        </p:txBody>
      </p:sp>
      <p:sp>
        <p:nvSpPr>
          <p:cNvPr id="17" name="FooterLine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FooterLeft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</a:rPr>
              <a:t>EELU - FCIT 2026</a:t>
            </a:r>
          </a:p>
        </p:txBody>
      </p:sp>
      <p:sp>
        <p:nvSpPr>
          <p:cNvPr id="19" name="FooterRight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</a:rPr>
              <a:t>22 / 33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010900" y="64837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Nav1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Introduction</a:t>
            </a:r>
          </a:p>
        </p:txBody>
      </p:sp>
      <p:sp>
        <p:nvSpPr>
          <p:cNvPr id="5" name="Nav2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Problem &amp; Objectives</a:t>
            </a:r>
          </a:p>
        </p:txBody>
      </p:sp>
      <p:sp>
        <p:nvSpPr>
          <p:cNvPr id="6" name="Nav3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Proposed Solution</a:t>
            </a:r>
          </a:p>
        </p:txBody>
      </p:sp>
      <p:sp>
        <p:nvSpPr>
          <p:cNvPr id="7" name="Nav4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System Design</a:t>
            </a:r>
          </a:p>
        </p:txBody>
      </p:sp>
      <p:sp>
        <p:nvSpPr>
          <p:cNvPr id="8" name="Nav5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</a:rPr>
              <a:t>Implementation</a:t>
            </a:r>
          </a:p>
        </p:txBody>
      </p:sp>
      <p:sp>
        <p:nvSpPr>
          <p:cNvPr id="9" name="Nav6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</a:rPr>
              <a:t>Results &amp; Conclusion</a:t>
            </a:r>
          </a:p>
        </p:txBody>
      </p:sp>
      <p:sp>
        <p:nvSpPr>
          <p:cNvPr id="10" name="Title"/>
          <p:cNvSpPr/>
          <p:nvPr/>
        </p:nvSpPr>
        <p:spPr>
          <a:xfrm>
            <a:off x="762000" y="635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</a:rPr>
              <a:t>Performance &amp; System Resilience</a:t>
            </a:r>
          </a:p>
        </p:txBody>
      </p:sp>
      <p:sp>
        <p:nvSpPr>
          <p:cNvPr id="11" name="M1Bg"/>
          <p:cNvSpPr/>
          <p:nvPr/>
        </p:nvSpPr>
        <p:spPr>
          <a:xfrm>
            <a:off x="762000" y="1422400"/>
            <a:ext cx="4648200" cy="6985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M1Icon"/>
          <p:cNvSpPr/>
          <p:nvPr/>
        </p:nvSpPr>
        <p:spPr>
          <a:xfrm>
            <a:off x="889000" y="1600200"/>
            <a:ext cx="889000" cy="889000"/>
          </a:xfrm>
          <a:prstGeom prst="ellipse">
            <a:avLst/>
          </a:prstGeom>
          <a:solidFill>
            <a:srgbClr val="A7D7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M1Content"/>
          <p:cNvSpPr/>
          <p:nvPr/>
        </p:nvSpPr>
        <p:spPr>
          <a:xfrm>
            <a:off x="889000" y="2616200"/>
            <a:ext cx="4394200" cy="5334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A7D7C5"/>
                </a:solidFill>
                <a:latin typeface="Quattrocento Sans" pitchFamily="34" charset="0"/>
              </a:rPr>
              <a:t>High-Concurrency Load Ingestion</a:t>
            </a:r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dirty="0">
                <a:solidFill>
                  <a:srgbClr val="E8F5F0"/>
                </a:solidFill>
                <a:latin typeface="Quattrocento Sans" pitchFamily="34" charset="0"/>
              </a:rPr>
              <a:t>Smooth batch processing of extensive candidate arrays submitted concurrently against comprehensive job models.</a:t>
            </a:r>
          </a:p>
        </p:txBody>
      </p:sp>
      <p:sp>
        <p:nvSpPr>
          <p:cNvPr id="14" name="M2Bg"/>
          <p:cNvSpPr/>
          <p:nvPr/>
        </p:nvSpPr>
        <p:spPr>
          <a:xfrm>
            <a:off x="5715000" y="1422400"/>
            <a:ext cx="4648200" cy="6985000"/>
          </a:xfrm>
          <a:prstGeom prst="rect">
            <a:avLst/>
          </a:prstGeom>
          <a:solidFill>
            <a:srgbClr val="2C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M2Icon"/>
          <p:cNvSpPr/>
          <p:nvPr/>
        </p:nvSpPr>
        <p:spPr>
          <a:xfrm>
            <a:off x="5842000" y="1600200"/>
            <a:ext cx="889000" cy="889000"/>
          </a:xfrm>
          <a:prstGeom prst="ellipse">
            <a:avLst/>
          </a:prstGeom>
          <a:solidFill>
            <a:srgbClr val="A7D7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M2Content"/>
          <p:cNvSpPr/>
          <p:nvPr/>
        </p:nvSpPr>
        <p:spPr>
          <a:xfrm>
            <a:off x="5842000" y="2616200"/>
            <a:ext cx="4394200" cy="5334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A7D7C5"/>
                </a:solidFill>
                <a:latin typeface="Quattrocento Sans" pitchFamily="34" charset="0"/>
              </a:rPr>
              <a:t>Optimized Inference Latency</a:t>
            </a:r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dirty="0">
                <a:solidFill>
                  <a:srgbClr val="E8F5F0"/>
                </a:solidFill>
                <a:latin typeface="Quattrocento Sans" pitchFamily="34" charset="0"/>
              </a:rPr>
              <a:t>End-to-end multi-layer filtering and RAG response blocks generated in minimal server runtime.</a:t>
            </a:r>
          </a:p>
        </p:txBody>
      </p:sp>
      <p:sp>
        <p:nvSpPr>
          <p:cNvPr id="17" name="M3Bg"/>
          <p:cNvSpPr/>
          <p:nvPr/>
        </p:nvSpPr>
        <p:spPr>
          <a:xfrm>
            <a:off x="10668000" y="1422400"/>
            <a:ext cx="4826000" cy="6985000"/>
          </a:xfrm>
          <a:prstGeom prst="rect">
            <a:avLst/>
          </a:prstGeom>
          <a:solidFill>
            <a:srgbClr val="3D8B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M3Icon"/>
          <p:cNvSpPr/>
          <p:nvPr/>
        </p:nvSpPr>
        <p:spPr>
          <a:xfrm>
            <a:off x="10795000" y="1600200"/>
            <a:ext cx="889000" cy="889000"/>
          </a:xfrm>
          <a:prstGeom prst="ellipse">
            <a:avLst/>
          </a:prstGeom>
          <a:solidFill>
            <a:srgbClr val="A7D7C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M3Content"/>
          <p:cNvSpPr/>
          <p:nvPr/>
        </p:nvSpPr>
        <p:spPr>
          <a:xfrm>
            <a:off x="10795000" y="2616200"/>
            <a:ext cx="4572000" cy="5334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sz="1600" b="1" dirty="0">
                <a:solidFill>
                  <a:srgbClr val="A7D7C5"/>
                </a:solidFill>
                <a:latin typeface="Quattrocento Sans" pitchFamily="34" charset="0"/>
              </a:rPr>
              <a:t>Architectural Stability</a:t>
            </a:r>
          </a:p>
          <a:p>
            <a:pPr algn="l">
              <a:lnSpc>
                <a:spcPct val="140000"/>
              </a:lnSpc>
              <a:spcBef>
                <a:spcPts val="300"/>
              </a:spcBef>
            </a:pPr>
            <a:r>
              <a:rPr lang="en-US" sz="1400" dirty="0">
                <a:solidFill>
                  <a:srgbClr val="E8F5F0"/>
                </a:solidFill>
                <a:latin typeface="Quattrocento Sans" pitchFamily="34" charset="0"/>
              </a:rPr>
              <a:t>FastAPI microservice on Hugging Face Spaces recorded zero schema degradation or memory crashes under strain.</a:t>
            </a:r>
          </a:p>
        </p:txBody>
      </p:sp>
      <p:sp>
        <p:nvSpPr>
          <p:cNvPr id="20" name="FooterLine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FooterLeft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</a:rPr>
              <a:t>EELU - FCIT 2026</a:t>
            </a:r>
          </a:p>
        </p:txBody>
      </p:sp>
      <p:sp>
        <p:nvSpPr>
          <p:cNvPr id="22" name="FooterRight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</a:rPr>
              <a:t>23 / 33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Seeker Experience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46990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4605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0600" y="162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5383" y="162520"/>
                </a:moveTo>
                <a:cubicBezTo>
                  <a:pt x="210979" y="156924"/>
                  <a:pt x="210979" y="147876"/>
                  <a:pt x="205383" y="142339"/>
                </a:cubicBezTo>
                <a:lnTo>
                  <a:pt x="119658" y="56555"/>
                </a:lnTo>
                <a:cubicBezTo>
                  <a:pt x="115550" y="52447"/>
                  <a:pt x="109418" y="51256"/>
                  <a:pt x="104061" y="53459"/>
                </a:cubicBezTo>
                <a:cubicBezTo>
                  <a:pt x="98703" y="55662"/>
                  <a:pt x="95250" y="60900"/>
                  <a:pt x="95250" y="66675"/>
                </a:cubicBezTo>
                <a:lnTo>
                  <a:pt x="95250" y="114300"/>
                </a:lnTo>
                <a:lnTo>
                  <a:pt x="28575" y="114300"/>
                </a:lnTo>
                <a:cubicBezTo>
                  <a:pt x="12799" y="114300"/>
                  <a:pt x="0" y="127099"/>
                  <a:pt x="0" y="142875"/>
                </a:cubicBezTo>
                <a:lnTo>
                  <a:pt x="0" y="161925"/>
                </a:lnTo>
                <a:cubicBezTo>
                  <a:pt x="0" y="177701"/>
                  <a:pt x="12799" y="190500"/>
                  <a:pt x="28575" y="190500"/>
                </a:cubicBezTo>
                <a:lnTo>
                  <a:pt x="95250" y="190500"/>
                </a:lnTo>
                <a:lnTo>
                  <a:pt x="95250" y="238125"/>
                </a:lnTo>
                <a:cubicBezTo>
                  <a:pt x="95250" y="243900"/>
                  <a:pt x="98703" y="249138"/>
                  <a:pt x="104061" y="251341"/>
                </a:cubicBezTo>
                <a:cubicBezTo>
                  <a:pt x="109418" y="253544"/>
                  <a:pt x="115550" y="252353"/>
                  <a:pt x="119658" y="248245"/>
                </a:cubicBezTo>
                <a:lnTo>
                  <a:pt x="205383" y="162520"/>
                </a:lnTo>
                <a:close/>
                <a:moveTo>
                  <a:pt x="209550" y="247650"/>
                </a:moveTo>
                <a:cubicBezTo>
                  <a:pt x="199013" y="247650"/>
                  <a:pt x="190500" y="256163"/>
                  <a:pt x="190500" y="266700"/>
                </a:cubicBezTo>
                <a:cubicBezTo>
                  <a:pt x="190500" y="277237"/>
                  <a:pt x="199013" y="285750"/>
                  <a:pt x="209550" y="285750"/>
                </a:cubicBezTo>
                <a:lnTo>
                  <a:pt x="247650" y="285750"/>
                </a:lnTo>
                <a:cubicBezTo>
                  <a:pt x="279202" y="285750"/>
                  <a:pt x="304800" y="260152"/>
                  <a:pt x="304800" y="228600"/>
                </a:cubicBezTo>
                <a:lnTo>
                  <a:pt x="304800" y="76200"/>
                </a:lnTo>
                <a:cubicBezTo>
                  <a:pt x="304800" y="44648"/>
                  <a:pt x="279202" y="19050"/>
                  <a:pt x="247650" y="19050"/>
                </a:cubicBezTo>
                <a:lnTo>
                  <a:pt x="209550" y="19050"/>
                </a:lnTo>
                <a:cubicBezTo>
                  <a:pt x="199013" y="19050"/>
                  <a:pt x="190500" y="27563"/>
                  <a:pt x="190500" y="38100"/>
                </a:cubicBezTo>
                <a:cubicBezTo>
                  <a:pt x="190500" y="48637"/>
                  <a:pt x="199013" y="57150"/>
                  <a:pt x="209550" y="57150"/>
                </a:cubicBez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228600"/>
                </a:lnTo>
                <a:cubicBezTo>
                  <a:pt x="266700" y="239137"/>
                  <a:pt x="258187" y="247650"/>
                  <a:pt x="247650" y="247650"/>
                </a:cubicBezTo>
                <a:lnTo>
                  <a:pt x="209550" y="247650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397000" y="1600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Registration / Login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90600" y="2006600"/>
            <a:ext cx="421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or Google OAuth authentication with verification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78500" y="1460500"/>
            <a:ext cx="4699000" cy="1651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78500" y="14605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07100" y="162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653" y="21610"/>
                </a:moveTo>
                <a:cubicBezTo>
                  <a:pt x="86142" y="26134"/>
                  <a:pt x="87690" y="35064"/>
                  <a:pt x="83165" y="41493"/>
                </a:cubicBezTo>
                <a:lnTo>
                  <a:pt x="49828" y="89118"/>
                </a:lnTo>
                <a:cubicBezTo>
                  <a:pt x="47387" y="92571"/>
                  <a:pt x="43577" y="94774"/>
                  <a:pt x="39350" y="95131"/>
                </a:cubicBezTo>
                <a:cubicBezTo>
                  <a:pt x="35123" y="95488"/>
                  <a:pt x="30956" y="94059"/>
                  <a:pt x="27980" y="91083"/>
                </a:cubicBezTo>
                <a:lnTo>
                  <a:pt x="4167" y="67270"/>
                </a:lnTo>
                <a:cubicBezTo>
                  <a:pt x="-1369" y="61674"/>
                  <a:pt x="-1369" y="52626"/>
                  <a:pt x="4167" y="47030"/>
                </a:cubicBezTo>
                <a:cubicBezTo>
                  <a:pt x="9704" y="41434"/>
                  <a:pt x="18812" y="41493"/>
                  <a:pt x="24408" y="47030"/>
                </a:cubicBezTo>
                <a:lnTo>
                  <a:pt x="36195" y="58817"/>
                </a:lnTo>
                <a:lnTo>
                  <a:pt x="59769" y="25122"/>
                </a:lnTo>
                <a:cubicBezTo>
                  <a:pt x="64294" y="18633"/>
                  <a:pt x="73223" y="17085"/>
                  <a:pt x="79653" y="21610"/>
                </a:cubicBezTo>
                <a:close/>
                <a:moveTo>
                  <a:pt x="79653" y="116860"/>
                </a:moveTo>
                <a:cubicBezTo>
                  <a:pt x="86142" y="121384"/>
                  <a:pt x="87690" y="130314"/>
                  <a:pt x="83165" y="136743"/>
                </a:cubicBezTo>
                <a:lnTo>
                  <a:pt x="49828" y="184368"/>
                </a:lnTo>
                <a:cubicBezTo>
                  <a:pt x="47387" y="187821"/>
                  <a:pt x="43577" y="190024"/>
                  <a:pt x="39350" y="190381"/>
                </a:cubicBezTo>
                <a:cubicBezTo>
                  <a:pt x="35123" y="190738"/>
                  <a:pt x="30956" y="189309"/>
                  <a:pt x="27980" y="186333"/>
                </a:cubicBezTo>
                <a:lnTo>
                  <a:pt x="4167" y="162520"/>
                </a:lnTo>
                <a:cubicBezTo>
                  <a:pt x="-1429" y="156924"/>
                  <a:pt x="-1429" y="147876"/>
                  <a:pt x="4167" y="142339"/>
                </a:cubicBezTo>
                <a:cubicBezTo>
                  <a:pt x="9763" y="136803"/>
                  <a:pt x="18812" y="136743"/>
                  <a:pt x="24348" y="142339"/>
                </a:cubicBezTo>
                <a:lnTo>
                  <a:pt x="36135" y="154126"/>
                </a:lnTo>
                <a:lnTo>
                  <a:pt x="59710" y="120432"/>
                </a:lnTo>
                <a:cubicBezTo>
                  <a:pt x="64234" y="113943"/>
                  <a:pt x="73164" y="112395"/>
                  <a:pt x="79593" y="116919"/>
                </a:cubicBezTo>
                <a:close/>
                <a:moveTo>
                  <a:pt x="133350" y="57150"/>
                </a:moveTo>
                <a:cubicBezTo>
                  <a:pt x="133350" y="46613"/>
                  <a:pt x="141863" y="38100"/>
                  <a:pt x="152400" y="38100"/>
                </a:cubicBez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52400" y="76200"/>
                </a:lnTo>
                <a:cubicBezTo>
                  <a:pt x="141863" y="76200"/>
                  <a:pt x="133350" y="67687"/>
                  <a:pt x="133350" y="57150"/>
                </a:cubicBezTo>
                <a:close/>
                <a:moveTo>
                  <a:pt x="133350" y="152400"/>
                </a:moveTo>
                <a:cubicBezTo>
                  <a:pt x="133350" y="141863"/>
                  <a:pt x="141863" y="133350"/>
                  <a:pt x="15240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52400" y="171450"/>
                </a:lnTo>
                <a:cubicBezTo>
                  <a:pt x="141863" y="171450"/>
                  <a:pt x="133350" y="162937"/>
                  <a:pt x="133350" y="152400"/>
                </a:cubicBezTo>
                <a:close/>
                <a:moveTo>
                  <a:pt x="95250" y="247650"/>
                </a:moveTo>
                <a:cubicBezTo>
                  <a:pt x="95250" y="237113"/>
                  <a:pt x="103763" y="228600"/>
                  <a:pt x="114300" y="228600"/>
                </a:cubicBez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14300" y="266700"/>
                </a:lnTo>
                <a:cubicBezTo>
                  <a:pt x="103763" y="266700"/>
                  <a:pt x="95250" y="258187"/>
                  <a:pt x="95250" y="247650"/>
                </a:cubicBezTo>
                <a:close/>
                <a:moveTo>
                  <a:pt x="38100" y="223838"/>
                </a:moveTo>
                <a:cubicBezTo>
                  <a:pt x="51242" y="223838"/>
                  <a:pt x="61912" y="234508"/>
                  <a:pt x="61912" y="247650"/>
                </a:cubicBezTo>
                <a:cubicBezTo>
                  <a:pt x="61912" y="260792"/>
                  <a:pt x="51242" y="271463"/>
                  <a:pt x="38100" y="271463"/>
                </a:cubicBezTo>
                <a:cubicBezTo>
                  <a:pt x="24958" y="271463"/>
                  <a:pt x="14288" y="260792"/>
                  <a:pt x="14288" y="247650"/>
                </a:cubicBezTo>
                <a:cubicBezTo>
                  <a:pt x="14288" y="234508"/>
                  <a:pt x="24958" y="223838"/>
                  <a:pt x="38100" y="223838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13500" y="1600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Wizard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07100" y="2006600"/>
            <a:ext cx="421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4-step guided setup with auto-save and progress tracking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795000" y="1460500"/>
            <a:ext cx="46990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795000" y="14605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023600" y="162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8100"/>
                </a:moveTo>
                <a:cubicBezTo>
                  <a:pt x="0" y="17085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3989"/>
                  <a:pt x="205423" y="11132"/>
                </a:cubicBezTo>
                <a:lnTo>
                  <a:pt x="289957" y="74593"/>
                </a:lnTo>
                <a:cubicBezTo>
                  <a:pt x="299482" y="81736"/>
                  <a:pt x="304800" y="91440"/>
                  <a:pt x="304800" y="10156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65100" y="34826"/>
                </a:moveTo>
                <a:lnTo>
                  <a:pt x="165100" y="90488"/>
                </a:lnTo>
                <a:cubicBezTo>
                  <a:pt x="165100" y="98405"/>
                  <a:pt x="173593" y="104775"/>
                  <a:pt x="184150" y="104775"/>
                </a:cubicBezTo>
                <a:lnTo>
                  <a:pt x="258366" y="104775"/>
                </a:lnTo>
                <a:lnTo>
                  <a:pt x="165100" y="34826"/>
                </a:lnTo>
                <a:close/>
                <a:moveTo>
                  <a:pt x="165894" y="156567"/>
                </a:moveTo>
                <a:cubicBezTo>
                  <a:pt x="158433" y="150971"/>
                  <a:pt x="146368" y="150971"/>
                  <a:pt x="138986" y="156567"/>
                </a:cubicBezTo>
                <a:lnTo>
                  <a:pt x="88186" y="194667"/>
                </a:lnTo>
                <a:cubicBezTo>
                  <a:pt x="80724" y="200263"/>
                  <a:pt x="80724" y="209312"/>
                  <a:pt x="88186" y="214848"/>
                </a:cubicBezTo>
                <a:cubicBezTo>
                  <a:pt x="95647" y="220385"/>
                  <a:pt x="107712" y="220444"/>
                  <a:pt x="115094" y="214848"/>
                </a:cubicBezTo>
                <a:lnTo>
                  <a:pt x="133350" y="201156"/>
                </a:lnTo>
                <a:lnTo>
                  <a:pt x="133350" y="252413"/>
                </a:lnTo>
                <a:cubicBezTo>
                  <a:pt x="133350" y="260330"/>
                  <a:pt x="141843" y="266700"/>
                  <a:pt x="152400" y="266700"/>
                </a:cubicBezTo>
                <a:cubicBezTo>
                  <a:pt x="162957" y="266700"/>
                  <a:pt x="171450" y="260330"/>
                  <a:pt x="171450" y="252413"/>
                </a:cubicBezTo>
                <a:lnTo>
                  <a:pt x="171450" y="201156"/>
                </a:lnTo>
                <a:lnTo>
                  <a:pt x="189706" y="214848"/>
                </a:lnTo>
                <a:cubicBezTo>
                  <a:pt x="197168" y="220444"/>
                  <a:pt x="209233" y="220444"/>
                  <a:pt x="216614" y="214848"/>
                </a:cubicBezTo>
                <a:cubicBezTo>
                  <a:pt x="223996" y="209252"/>
                  <a:pt x="224076" y="200204"/>
                  <a:pt x="216614" y="194667"/>
                </a:cubicBezTo>
                <a:lnTo>
                  <a:pt x="165814" y="156567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00" y="1600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Resume Upload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23600" y="2006600"/>
            <a:ext cx="4216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Drag-and-drop with real-time parsing status via Gemini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3429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2000" y="34290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90600" y="359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640" y="0"/>
                </a:moveTo>
                <a:cubicBezTo>
                  <a:pt x="105591" y="0"/>
                  <a:pt x="98312" y="6370"/>
                  <a:pt x="98312" y="14288"/>
                </a:cubicBezTo>
                <a:cubicBezTo>
                  <a:pt x="98312" y="22205"/>
                  <a:pt x="105591" y="28575"/>
                  <a:pt x="114640" y="28575"/>
                </a:cubicBezTo>
                <a:lnTo>
                  <a:pt x="136412" y="28575"/>
                </a:lnTo>
                <a:lnTo>
                  <a:pt x="136412" y="43636"/>
                </a:lnTo>
                <a:cubicBezTo>
                  <a:pt x="62933" y="50721"/>
                  <a:pt x="5783" y="105251"/>
                  <a:pt x="5783" y="171450"/>
                </a:cubicBezTo>
                <a:cubicBezTo>
                  <a:pt x="5783" y="242471"/>
                  <a:pt x="71574" y="300038"/>
                  <a:pt x="152740" y="300038"/>
                </a:cubicBezTo>
                <a:cubicBezTo>
                  <a:pt x="233907" y="300038"/>
                  <a:pt x="299697" y="242471"/>
                  <a:pt x="299697" y="171450"/>
                </a:cubicBezTo>
                <a:cubicBezTo>
                  <a:pt x="299697" y="147757"/>
                  <a:pt x="292349" y="125551"/>
                  <a:pt x="279559" y="106442"/>
                </a:cubicBezTo>
                <a:lnTo>
                  <a:pt x="298745" y="89654"/>
                </a:lnTo>
                <a:cubicBezTo>
                  <a:pt x="307249" y="82213"/>
                  <a:pt x="307249" y="70128"/>
                  <a:pt x="298745" y="62686"/>
                </a:cubicBezTo>
                <a:cubicBezTo>
                  <a:pt x="290240" y="55245"/>
                  <a:pt x="276429" y="55245"/>
                  <a:pt x="267925" y="62686"/>
                </a:cubicBezTo>
                <a:lnTo>
                  <a:pt x="252004" y="76617"/>
                </a:lnTo>
                <a:cubicBezTo>
                  <a:pt x="229621" y="58638"/>
                  <a:pt x="200841" y="46673"/>
                  <a:pt x="169001" y="43577"/>
                </a:cubicBezTo>
                <a:lnTo>
                  <a:pt x="169001" y="28515"/>
                </a:lnTo>
                <a:lnTo>
                  <a:pt x="190772" y="28515"/>
                </a:lnTo>
                <a:cubicBezTo>
                  <a:pt x="199821" y="28515"/>
                  <a:pt x="207101" y="22146"/>
                  <a:pt x="207101" y="14228"/>
                </a:cubicBezTo>
                <a:cubicBezTo>
                  <a:pt x="207101" y="6310"/>
                  <a:pt x="199821" y="-60"/>
                  <a:pt x="190772" y="-60"/>
                </a:cubicBezTo>
                <a:lnTo>
                  <a:pt x="114572" y="-60"/>
                </a:lnTo>
                <a:close/>
                <a:moveTo>
                  <a:pt x="169069" y="109537"/>
                </a:moveTo>
                <a:lnTo>
                  <a:pt x="169069" y="171450"/>
                </a:lnTo>
                <a:cubicBezTo>
                  <a:pt x="169069" y="179368"/>
                  <a:pt x="161789" y="185738"/>
                  <a:pt x="152740" y="185738"/>
                </a:cubicBezTo>
                <a:cubicBezTo>
                  <a:pt x="143691" y="185738"/>
                  <a:pt x="136412" y="179368"/>
                  <a:pt x="136412" y="171450"/>
                </a:cubicBezTo>
                <a:lnTo>
                  <a:pt x="136412" y="109537"/>
                </a:lnTo>
                <a:cubicBezTo>
                  <a:pt x="136412" y="101620"/>
                  <a:pt x="143691" y="95250"/>
                  <a:pt x="152740" y="95250"/>
                </a:cubicBezTo>
                <a:cubicBezTo>
                  <a:pt x="161789" y="95250"/>
                  <a:pt x="169069" y="101620"/>
                  <a:pt x="169069" y="109537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97000" y="35687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 Assessment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39751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Timed MCQ interface with countdown timer and eligibility status display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445500" y="3429000"/>
            <a:ext cx="70485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445500" y="3429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674100" y="359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1145" y="142875"/>
                </a:moveTo>
                <a:lnTo>
                  <a:pt x="178012" y="142875"/>
                </a:lnTo>
                <a:cubicBezTo>
                  <a:pt x="168645" y="142875"/>
                  <a:pt x="161078" y="134362"/>
                  <a:pt x="161078" y="123825"/>
                </a:cubicBezTo>
                <a:lnTo>
                  <a:pt x="161078" y="19050"/>
                </a:lnTo>
                <a:cubicBezTo>
                  <a:pt x="161078" y="8513"/>
                  <a:pt x="168698" y="-119"/>
                  <a:pt x="177959" y="1250"/>
                </a:cubicBezTo>
                <a:cubicBezTo>
                  <a:pt x="234580" y="9704"/>
                  <a:pt x="279453" y="60186"/>
                  <a:pt x="286967" y="123885"/>
                </a:cubicBezTo>
                <a:cubicBezTo>
                  <a:pt x="288184" y="134303"/>
                  <a:pt x="280511" y="142875"/>
                  <a:pt x="271145" y="142875"/>
                </a:cubicBezTo>
                <a:close/>
                <a:moveTo>
                  <a:pt x="117792" y="22146"/>
                </a:moveTo>
                <a:cubicBezTo>
                  <a:pt x="127370" y="19883"/>
                  <a:pt x="135678" y="28694"/>
                  <a:pt x="135678" y="39707"/>
                </a:cubicBezTo>
                <a:lnTo>
                  <a:pt x="135678" y="157163"/>
                </a:lnTo>
                <a:cubicBezTo>
                  <a:pt x="135678" y="160496"/>
                  <a:pt x="136737" y="163711"/>
                  <a:pt x="138589" y="166271"/>
                </a:cubicBezTo>
                <a:lnTo>
                  <a:pt x="208492" y="261164"/>
                </a:lnTo>
                <a:cubicBezTo>
                  <a:pt x="214683" y="269558"/>
                  <a:pt x="213360" y="282238"/>
                  <a:pt x="204840" y="287417"/>
                </a:cubicBezTo>
                <a:cubicBezTo>
                  <a:pt x="186796" y="298490"/>
                  <a:pt x="166105" y="304800"/>
                  <a:pt x="144145" y="304800"/>
                </a:cubicBezTo>
                <a:cubicBezTo>
                  <a:pt x="74030" y="304800"/>
                  <a:pt x="17145" y="240804"/>
                  <a:pt x="17145" y="161925"/>
                </a:cubicBezTo>
                <a:cubicBezTo>
                  <a:pt x="17145" y="93166"/>
                  <a:pt x="60272" y="35778"/>
                  <a:pt x="117792" y="22146"/>
                </a:cubicBezTo>
                <a:close/>
                <a:moveTo>
                  <a:pt x="252836" y="171450"/>
                </a:moveTo>
                <a:lnTo>
                  <a:pt x="286702" y="171450"/>
                </a:lnTo>
                <a:cubicBezTo>
                  <a:pt x="296492" y="171450"/>
                  <a:pt x="304324" y="180796"/>
                  <a:pt x="302313" y="191572"/>
                </a:cubicBezTo>
                <a:cubicBezTo>
                  <a:pt x="296915" y="220385"/>
                  <a:pt x="283792" y="245983"/>
                  <a:pt x="265483" y="265509"/>
                </a:cubicBezTo>
                <a:cubicBezTo>
                  <a:pt x="258974" y="272475"/>
                  <a:pt x="248761" y="270986"/>
                  <a:pt x="243046" y="263188"/>
                </a:cubicBezTo>
                <a:lnTo>
                  <a:pt x="198385" y="202644"/>
                </a:lnTo>
                <a:cubicBezTo>
                  <a:pt x="189230" y="190202"/>
                  <a:pt x="197115" y="171450"/>
                  <a:pt x="211402" y="171450"/>
                </a:cubicBezTo>
                <a:lnTo>
                  <a:pt x="252783" y="171450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080500" y="35687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74100" y="39751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completion metrics and engagement statistics at a glance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2000" y="5461000"/>
            <a:ext cx="14732000" cy="1016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1079500" y="571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587500" y="5740400"/>
            <a:ext cx="1358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Screenshot Placeholder: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Insert Job Seeker dashboard screenshot here to showcase the actual UI.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 Experience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24000" y="2032000"/>
            <a:ext cx="13208000" cy="4826000"/>
          </a:xfrm>
          <a:prstGeom prst="rect">
            <a:avLst/>
          </a:prstGeom>
          <a:solidFill>
            <a:srgbClr val="1E4D4D">
              <a:alpha val="10196"/>
            </a:srgbClr>
          </a:solidFill>
          <a:ln w="12700"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3000" y="3302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35467" y="101600"/>
                </a:moveTo>
                <a:cubicBezTo>
                  <a:pt x="85654" y="101600"/>
                  <a:pt x="45156" y="147161"/>
                  <a:pt x="45156" y="203200"/>
                </a:cubicBezTo>
                <a:lnTo>
                  <a:pt x="45156" y="609600"/>
                </a:lnTo>
                <a:cubicBezTo>
                  <a:pt x="45156" y="665639"/>
                  <a:pt x="85654" y="711200"/>
                  <a:pt x="135467" y="711200"/>
                </a:cubicBezTo>
                <a:lnTo>
                  <a:pt x="496711" y="711200"/>
                </a:lnTo>
                <a:cubicBezTo>
                  <a:pt x="546523" y="711200"/>
                  <a:pt x="587022" y="665639"/>
                  <a:pt x="587022" y="609600"/>
                </a:cubicBezTo>
                <a:lnTo>
                  <a:pt x="587022" y="203200"/>
                </a:lnTo>
                <a:cubicBezTo>
                  <a:pt x="587022" y="147161"/>
                  <a:pt x="546523" y="101600"/>
                  <a:pt x="496711" y="101600"/>
                </a:cubicBezTo>
                <a:lnTo>
                  <a:pt x="135467" y="101600"/>
                </a:lnTo>
                <a:close/>
                <a:moveTo>
                  <a:pt x="654756" y="533400"/>
                </a:moveTo>
                <a:lnTo>
                  <a:pt x="758472" y="626745"/>
                </a:lnTo>
                <a:cubicBezTo>
                  <a:pt x="764399" y="632142"/>
                  <a:pt x="771737" y="635000"/>
                  <a:pt x="779357" y="635000"/>
                </a:cubicBezTo>
                <a:cubicBezTo>
                  <a:pt x="797842" y="635000"/>
                  <a:pt x="812800" y="618173"/>
                  <a:pt x="812800" y="597376"/>
                </a:cubicBezTo>
                <a:lnTo>
                  <a:pt x="812800" y="215424"/>
                </a:lnTo>
                <a:cubicBezTo>
                  <a:pt x="812800" y="194628"/>
                  <a:pt x="797842" y="177800"/>
                  <a:pt x="779357" y="177800"/>
                </a:cubicBezTo>
                <a:cubicBezTo>
                  <a:pt x="771737" y="177800"/>
                  <a:pt x="764399" y="180658"/>
                  <a:pt x="758472" y="186055"/>
                </a:cubicBezTo>
                <a:lnTo>
                  <a:pt x="654756" y="279400"/>
                </a:lnTo>
                <a:lnTo>
                  <a:pt x="654756" y="533400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048000" y="431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Recruiter Experience Demo Video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048000" y="48895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slide is reserved for a live demo / video demonstration.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your system demonstration video here.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&amp; RTL Design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06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8778" y="0"/>
                </a:moveTo>
                <a:cubicBezTo>
                  <a:pt x="109705" y="0"/>
                  <a:pt x="118533" y="9932"/>
                  <a:pt x="118533" y="22225"/>
                </a:cubicBezTo>
                <a:lnTo>
                  <a:pt x="118533" y="44450"/>
                </a:lnTo>
                <a:lnTo>
                  <a:pt x="197556" y="44450"/>
                </a:lnTo>
                <a:cubicBezTo>
                  <a:pt x="208483" y="44450"/>
                  <a:pt x="217311" y="54382"/>
                  <a:pt x="217311" y="66675"/>
                </a:cubicBezTo>
                <a:cubicBezTo>
                  <a:pt x="217311" y="78968"/>
                  <a:pt x="208483" y="88900"/>
                  <a:pt x="197556" y="88900"/>
                </a:cubicBezTo>
                <a:lnTo>
                  <a:pt x="191629" y="88900"/>
                </a:lnTo>
                <a:lnTo>
                  <a:pt x="186443" y="104944"/>
                </a:lnTo>
                <a:cubicBezTo>
                  <a:pt x="176318" y="136336"/>
                  <a:pt x="161070" y="165021"/>
                  <a:pt x="141870" y="189676"/>
                </a:cubicBezTo>
                <a:cubicBezTo>
                  <a:pt x="150636" y="195788"/>
                  <a:pt x="159773" y="201206"/>
                  <a:pt x="169280" y="205998"/>
                </a:cubicBezTo>
                <a:lnTo>
                  <a:pt x="200395" y="221555"/>
                </a:lnTo>
                <a:lnTo>
                  <a:pt x="238795" y="124321"/>
                </a:lnTo>
                <a:cubicBezTo>
                  <a:pt x="241944" y="116265"/>
                  <a:pt x="249043" y="111125"/>
                  <a:pt x="256822" y="111125"/>
                </a:cubicBezTo>
                <a:cubicBezTo>
                  <a:pt x="264601" y="111125"/>
                  <a:pt x="271701" y="116265"/>
                  <a:pt x="274849" y="124321"/>
                </a:cubicBezTo>
                <a:lnTo>
                  <a:pt x="353871" y="324346"/>
                </a:lnTo>
                <a:cubicBezTo>
                  <a:pt x="358316" y="335598"/>
                  <a:pt x="353810" y="348724"/>
                  <a:pt x="343870" y="353655"/>
                </a:cubicBezTo>
                <a:cubicBezTo>
                  <a:pt x="333931" y="358586"/>
                  <a:pt x="322201" y="353586"/>
                  <a:pt x="317817" y="342404"/>
                </a:cubicBezTo>
                <a:lnTo>
                  <a:pt x="305470" y="311150"/>
                </a:lnTo>
                <a:lnTo>
                  <a:pt x="208236" y="311150"/>
                </a:lnTo>
                <a:lnTo>
                  <a:pt x="195889" y="342404"/>
                </a:lnTo>
                <a:cubicBezTo>
                  <a:pt x="191444" y="353655"/>
                  <a:pt x="179776" y="358656"/>
                  <a:pt x="169836" y="353655"/>
                </a:cubicBezTo>
                <a:cubicBezTo>
                  <a:pt x="159897" y="348655"/>
                  <a:pt x="155390" y="335528"/>
                  <a:pt x="159835" y="324346"/>
                </a:cubicBezTo>
                <a:lnTo>
                  <a:pt x="184406" y="262186"/>
                </a:lnTo>
                <a:lnTo>
                  <a:pt x="153291" y="246628"/>
                </a:lnTo>
                <a:cubicBezTo>
                  <a:pt x="139091" y="239544"/>
                  <a:pt x="125510" y="231071"/>
                  <a:pt x="112668" y="221347"/>
                </a:cubicBezTo>
                <a:cubicBezTo>
                  <a:pt x="99519" y="233293"/>
                  <a:pt x="85134" y="243711"/>
                  <a:pt x="69762" y="252393"/>
                </a:cubicBezTo>
                <a:lnTo>
                  <a:pt x="48339" y="264339"/>
                </a:lnTo>
                <a:cubicBezTo>
                  <a:pt x="38585" y="269825"/>
                  <a:pt x="26732" y="265380"/>
                  <a:pt x="21855" y="254407"/>
                </a:cubicBezTo>
                <a:cubicBezTo>
                  <a:pt x="16977" y="243433"/>
                  <a:pt x="20929" y="230098"/>
                  <a:pt x="30683" y="224611"/>
                </a:cubicBezTo>
                <a:lnTo>
                  <a:pt x="51982" y="212596"/>
                </a:lnTo>
                <a:cubicBezTo>
                  <a:pt x="62045" y="206901"/>
                  <a:pt x="71614" y="200303"/>
                  <a:pt x="80627" y="192941"/>
                </a:cubicBezTo>
                <a:cubicBezTo>
                  <a:pt x="72108" y="184120"/>
                  <a:pt x="64082" y="174605"/>
                  <a:pt x="56612" y="164534"/>
                </a:cubicBezTo>
                <a:lnTo>
                  <a:pt x="50377" y="156061"/>
                </a:lnTo>
                <a:cubicBezTo>
                  <a:pt x="43400" y="146616"/>
                  <a:pt x="44512" y="132586"/>
                  <a:pt x="52908" y="124738"/>
                </a:cubicBezTo>
                <a:cubicBezTo>
                  <a:pt x="61304" y="116890"/>
                  <a:pt x="73775" y="118140"/>
                  <a:pt x="80751" y="127585"/>
                </a:cubicBezTo>
                <a:lnTo>
                  <a:pt x="87048" y="136059"/>
                </a:lnTo>
                <a:cubicBezTo>
                  <a:pt x="94148" y="145713"/>
                  <a:pt x="101926" y="154672"/>
                  <a:pt x="110137" y="162937"/>
                </a:cubicBezTo>
                <a:cubicBezTo>
                  <a:pt x="127115" y="141823"/>
                  <a:pt x="140511" y="117029"/>
                  <a:pt x="149340" y="89733"/>
                </a:cubicBezTo>
                <a:lnTo>
                  <a:pt x="149648" y="88900"/>
                </a:lnTo>
                <a:lnTo>
                  <a:pt x="19817" y="88900"/>
                </a:lnTo>
                <a:cubicBezTo>
                  <a:pt x="8828" y="88900"/>
                  <a:pt x="0" y="78968"/>
                  <a:pt x="0" y="66675"/>
                </a:cubicBezTo>
                <a:cubicBezTo>
                  <a:pt x="0" y="54382"/>
                  <a:pt x="8828" y="44450"/>
                  <a:pt x="19756" y="44450"/>
                </a:cubicBezTo>
                <a:lnTo>
                  <a:pt x="79022" y="44450"/>
                </a:lnTo>
                <a:lnTo>
                  <a:pt x="79022" y="22225"/>
                </a:lnTo>
                <a:cubicBezTo>
                  <a:pt x="79022" y="9932"/>
                  <a:pt x="87850" y="0"/>
                  <a:pt x="98778" y="0"/>
                </a:cubicBezTo>
                <a:close/>
                <a:moveTo>
                  <a:pt x="256822" y="188079"/>
                </a:moveTo>
                <a:lnTo>
                  <a:pt x="225769" y="266700"/>
                </a:lnTo>
                <a:lnTo>
                  <a:pt x="287875" y="266700"/>
                </a:lnTo>
                <a:lnTo>
                  <a:pt x="256822" y="188079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732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English &amp; Arabic Support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2184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i18next translation library enables complete bilingual content coverage.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45500" y="1524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741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04596"/>
                </a:moveTo>
                <a:lnTo>
                  <a:pt x="282396" y="171271"/>
                </a:lnTo>
                <a:cubicBezTo>
                  <a:pt x="276007" y="177661"/>
                  <a:pt x="266492" y="179536"/>
                  <a:pt x="258157" y="176064"/>
                </a:cubicBezTo>
                <a:cubicBezTo>
                  <a:pt x="249823" y="172591"/>
                  <a:pt x="244475" y="164534"/>
                  <a:pt x="244475" y="155575"/>
                </a:cubicBezTo>
                <a:lnTo>
                  <a:pt x="244475" y="111125"/>
                </a:ln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244475" y="66675"/>
                </a:lnTo>
                <a:lnTo>
                  <a:pt x="244475" y="22225"/>
                </a:lnTo>
                <a:cubicBezTo>
                  <a:pt x="244475" y="13266"/>
                  <a:pt x="249892" y="5140"/>
                  <a:pt x="258227" y="1667"/>
                </a:cubicBezTo>
                <a:cubicBezTo>
                  <a:pt x="266561" y="-1806"/>
                  <a:pt x="276076" y="139"/>
                  <a:pt x="282466" y="6459"/>
                </a:cubicBezTo>
                <a:lnTo>
                  <a:pt x="349141" y="73134"/>
                </a:lnTo>
                <a:cubicBezTo>
                  <a:pt x="357823" y="81816"/>
                  <a:pt x="357823" y="95915"/>
                  <a:pt x="349141" y="104596"/>
                </a:cubicBezTo>
                <a:close/>
                <a:moveTo>
                  <a:pt x="73134" y="349071"/>
                </a:moveTo>
                <a:lnTo>
                  <a:pt x="6459" y="282396"/>
                </a:lnTo>
                <a:cubicBezTo>
                  <a:pt x="-2222" y="273715"/>
                  <a:pt x="-2222" y="259616"/>
                  <a:pt x="6459" y="250934"/>
                </a:cubicBezTo>
                <a:lnTo>
                  <a:pt x="73134" y="184259"/>
                </a:lnTo>
                <a:cubicBezTo>
                  <a:pt x="79524" y="177869"/>
                  <a:pt x="89039" y="175994"/>
                  <a:pt x="97373" y="179467"/>
                </a:cubicBezTo>
                <a:cubicBezTo>
                  <a:pt x="105708" y="182940"/>
                  <a:pt x="111125" y="191066"/>
                  <a:pt x="111125" y="200025"/>
                </a:cubicBezTo>
                <a:lnTo>
                  <a:pt x="111125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cubicBezTo>
                  <a:pt x="355600" y="278993"/>
                  <a:pt x="345668" y="288925"/>
                  <a:pt x="333375" y="288925"/>
                </a:cubicBezTo>
                <a:lnTo>
                  <a:pt x="111125" y="288925"/>
                </a:lnTo>
                <a:lnTo>
                  <a:pt x="111125" y="333375"/>
                </a:lnTo>
                <a:cubicBezTo>
                  <a:pt x="111125" y="342334"/>
                  <a:pt x="105708" y="350460"/>
                  <a:pt x="97373" y="353933"/>
                </a:cubicBezTo>
                <a:cubicBezTo>
                  <a:pt x="89039" y="357406"/>
                  <a:pt x="79524" y="355461"/>
                  <a:pt x="73134" y="349141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567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Seamless LTR / RTL Switching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74100" y="2184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Tailwind CSS logical properties handle layout direction automatically.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429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2000" y="3429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06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73200" y="3632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Localized Reference Data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600" y="4089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NameEn/NameAr columns with ?lang= parameter for bilingual lookups.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429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45500" y="3429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741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79593" y="0"/>
                  <a:pt x="0" y="79593"/>
                  <a:pt x="0" y="177800"/>
                </a:cubicBezTo>
                <a:cubicBezTo>
                  <a:pt x="0" y="276007"/>
                  <a:pt x="79593" y="355600"/>
                  <a:pt x="177800" y="355600"/>
                </a:cubicBezTo>
                <a:cubicBezTo>
                  <a:pt x="225584" y="355600"/>
                  <a:pt x="268992" y="336709"/>
                  <a:pt x="300940" y="306010"/>
                </a:cubicBezTo>
                <a:cubicBezTo>
                  <a:pt x="306010" y="301149"/>
                  <a:pt x="307469" y="293578"/>
                  <a:pt x="304621" y="287189"/>
                </a:cubicBezTo>
                <a:cubicBezTo>
                  <a:pt x="301774" y="280799"/>
                  <a:pt x="295106" y="276840"/>
                  <a:pt x="288092" y="277396"/>
                </a:cubicBezTo>
                <a:cubicBezTo>
                  <a:pt x="284688" y="277674"/>
                  <a:pt x="281285" y="277813"/>
                  <a:pt x="277813" y="277813"/>
                </a:cubicBezTo>
                <a:cubicBezTo>
                  <a:pt x="207248" y="277813"/>
                  <a:pt x="150019" y="220583"/>
                  <a:pt x="150019" y="150019"/>
                </a:cubicBezTo>
                <a:cubicBezTo>
                  <a:pt x="150019" y="99943"/>
                  <a:pt x="178842" y="56535"/>
                  <a:pt x="220930" y="35560"/>
                </a:cubicBezTo>
                <a:cubicBezTo>
                  <a:pt x="227251" y="32435"/>
                  <a:pt x="230862" y="25628"/>
                  <a:pt x="230029" y="18613"/>
                </a:cubicBezTo>
                <a:cubicBezTo>
                  <a:pt x="229195" y="11599"/>
                  <a:pt x="224056" y="5904"/>
                  <a:pt x="217180" y="4376"/>
                </a:cubicBezTo>
                <a:cubicBezTo>
                  <a:pt x="204470" y="1528"/>
                  <a:pt x="191274" y="0"/>
                  <a:pt x="177800" y="0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56700" y="3632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Dark &amp; Light Mode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74100" y="4089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theme switching supported throughout the entire interface.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Dataset: Reference &amp; Lookup Data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2540000" cy="889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1498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62000" y="200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Titles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56000" y="1460500"/>
            <a:ext cx="2540000" cy="889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56000" y="14986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556000" y="200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62000" y="266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LOOKUP TABLES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073400"/>
          <a:ext cx="14732000" cy="3175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2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Table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Contents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Purpose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Countries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Bilingual country names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Location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Cities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Bilingual city names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Location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Languages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Spoken languages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Profile skills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 Titles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90 titles across 8 categories + Role Family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Job matching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Fields of Study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Academic disciplines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Education data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Skills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Skill names with alias variants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CV fuzzy matching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62000" y="64770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reference data ensures consistency across all candidate profiles and job postings.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601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Dataset: Candidate &amp; Job Data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0485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06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72244"/>
                </a:moveTo>
                <a:cubicBezTo>
                  <a:pt x="230370" y="172244"/>
                  <a:pt x="273050" y="134899"/>
                  <a:pt x="273050" y="88900"/>
                </a:cubicBezTo>
                <a:cubicBezTo>
                  <a:pt x="273050" y="42901"/>
                  <a:pt x="230370" y="5556"/>
                  <a:pt x="177800" y="5556"/>
                </a:cubicBezTo>
                <a:cubicBezTo>
                  <a:pt x="125230" y="5556"/>
                  <a:pt x="82550" y="42901"/>
                  <a:pt x="82550" y="88900"/>
                </a:cubicBezTo>
                <a:cubicBezTo>
                  <a:pt x="82550" y="134899"/>
                  <a:pt x="125230" y="172244"/>
                  <a:pt x="177800" y="172244"/>
                </a:cubicBezTo>
                <a:close/>
                <a:moveTo>
                  <a:pt x="154226" y="211138"/>
                </a:moveTo>
                <a:cubicBezTo>
                  <a:pt x="76041" y="211138"/>
                  <a:pt x="12700" y="266561"/>
                  <a:pt x="12700" y="334972"/>
                </a:cubicBezTo>
                <a:cubicBezTo>
                  <a:pt x="12700" y="346363"/>
                  <a:pt x="23257" y="355600"/>
                  <a:pt x="36274" y="355600"/>
                </a:cubicBezTo>
                <a:lnTo>
                  <a:pt x="319326" y="355600"/>
                </a:lnTo>
                <a:cubicBezTo>
                  <a:pt x="332343" y="355600"/>
                  <a:pt x="342900" y="346363"/>
                  <a:pt x="342900" y="334972"/>
                </a:cubicBezTo>
                <a:cubicBezTo>
                  <a:pt x="342900" y="266561"/>
                  <a:pt x="279559" y="211138"/>
                  <a:pt x="201374" y="211138"/>
                </a:cubicBezTo>
                <a:lnTo>
                  <a:pt x="154226" y="211138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732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Candidate Data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2184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Profiles, resumes, experience, education, projects, and skills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45500" y="15240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741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906" y="33337"/>
                </a:moveTo>
                <a:lnTo>
                  <a:pt x="216694" y="33337"/>
                </a:lnTo>
                <a:cubicBezTo>
                  <a:pt x="219750" y="33337"/>
                  <a:pt x="222250" y="35838"/>
                  <a:pt x="222250" y="38894"/>
                </a:cubicBezTo>
                <a:lnTo>
                  <a:pt x="222250" y="66675"/>
                </a:lnTo>
                <a:lnTo>
                  <a:pt x="133350" y="66675"/>
                </a:lnTo>
                <a:lnTo>
                  <a:pt x="133350" y="38894"/>
                </a:lnTo>
                <a:cubicBezTo>
                  <a:pt x="133350" y="35838"/>
                  <a:pt x="135850" y="33337"/>
                  <a:pt x="138906" y="33337"/>
                </a:cubicBezTo>
                <a:close/>
                <a:moveTo>
                  <a:pt x="100013" y="38894"/>
                </a:moveTo>
                <a:lnTo>
                  <a:pt x="100013" y="66675"/>
                </a:ln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177800"/>
                </a:lnTo>
                <a:lnTo>
                  <a:pt x="355600" y="177800"/>
                </a:lnTo>
                <a:lnTo>
                  <a:pt x="355600" y="111125"/>
                </a:lnTo>
                <a:cubicBezTo>
                  <a:pt x="355600" y="86608"/>
                  <a:pt x="335667" y="66675"/>
                  <a:pt x="311150" y="66675"/>
                </a:cubicBezTo>
                <a:lnTo>
                  <a:pt x="255587" y="66675"/>
                </a:lnTo>
                <a:lnTo>
                  <a:pt x="255587" y="38894"/>
                </a:lnTo>
                <a:cubicBezTo>
                  <a:pt x="255587" y="17433"/>
                  <a:pt x="238155" y="0"/>
                  <a:pt x="216694" y="0"/>
                </a:cubicBezTo>
                <a:lnTo>
                  <a:pt x="138906" y="0"/>
                </a:lnTo>
                <a:cubicBezTo>
                  <a:pt x="117445" y="0"/>
                  <a:pt x="100013" y="17433"/>
                  <a:pt x="100013" y="38894"/>
                </a:cubicBezTo>
                <a:close/>
                <a:moveTo>
                  <a:pt x="355600" y="211138"/>
                </a:moveTo>
                <a:lnTo>
                  <a:pt x="222250" y="211138"/>
                </a:lnTo>
                <a:lnTo>
                  <a:pt x="222250" y="222250"/>
                </a:lnTo>
                <a:cubicBezTo>
                  <a:pt x="222250" y="234543"/>
                  <a:pt x="212318" y="244475"/>
                  <a:pt x="200025" y="244475"/>
                </a:cubicBezTo>
                <a:lnTo>
                  <a:pt x="155575" y="244475"/>
                </a:lnTo>
                <a:cubicBezTo>
                  <a:pt x="143282" y="244475"/>
                  <a:pt x="133350" y="234543"/>
                  <a:pt x="133350" y="222250"/>
                </a:cubicBezTo>
                <a:lnTo>
                  <a:pt x="133350" y="211138"/>
                </a:lnTo>
                <a:lnTo>
                  <a:pt x="0" y="211138"/>
                </a:ln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311150" y="333375"/>
                </a:lnTo>
                <a:cubicBezTo>
                  <a:pt x="335667" y="333375"/>
                  <a:pt x="355600" y="313442"/>
                  <a:pt x="355600" y="288925"/>
                </a:cubicBezTo>
                <a:lnTo>
                  <a:pt x="355600" y="211138"/>
                </a:ln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567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 Posting Data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74100" y="2184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 skills, experience requirements, employment type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556000"/>
            <a:ext cx="7048500" cy="1651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2000" y="3556000"/>
            <a:ext cx="50800" cy="1651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0600" y="378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73200" y="3759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Data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600" y="4216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scores, reasoning explanations, assessment results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556000"/>
            <a:ext cx="7048500" cy="1651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45500" y="3556000"/>
            <a:ext cx="50800" cy="1651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74100" y="3784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56700" y="3759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Engagement Data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74100" y="4216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 views, search appearances, notifications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6652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Discussion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906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732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Multi-AI Integration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90600" y="2184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integrated three distinct AI services into a unified recruitment workflow.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45500" y="1524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674100" y="1752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0006"/>
                </a:moveTo>
                <a:cubicBezTo>
                  <a:pt x="0" y="40838"/>
                  <a:pt x="7431" y="33337"/>
                  <a:pt x="16669" y="33337"/>
                </a:cubicBezTo>
                <a:lnTo>
                  <a:pt x="50006" y="33337"/>
                </a:lnTo>
                <a:cubicBezTo>
                  <a:pt x="59244" y="33337"/>
                  <a:pt x="66675" y="40769"/>
                  <a:pt x="66675" y="50006"/>
                </a:cubicBezTo>
                <a:lnTo>
                  <a:pt x="66675" y="122238"/>
                </a:lnTo>
                <a:lnTo>
                  <a:pt x="83344" y="122238"/>
                </a:lnTo>
                <a:cubicBezTo>
                  <a:pt x="92581" y="122238"/>
                  <a:pt x="100013" y="129669"/>
                  <a:pt x="100013" y="138906"/>
                </a:cubicBezTo>
                <a:cubicBezTo>
                  <a:pt x="100013" y="148144"/>
                  <a:pt x="92581" y="155575"/>
                  <a:pt x="83344" y="155575"/>
                </a:cubicBezTo>
                <a:lnTo>
                  <a:pt x="16669" y="155575"/>
                </a:lnTo>
                <a:cubicBezTo>
                  <a:pt x="7431" y="155575"/>
                  <a:pt x="0" y="148144"/>
                  <a:pt x="0" y="138906"/>
                </a:cubicBezTo>
                <a:cubicBezTo>
                  <a:pt x="0" y="129669"/>
                  <a:pt x="7431" y="122238"/>
                  <a:pt x="16669" y="122238"/>
                </a:cubicBezTo>
                <a:lnTo>
                  <a:pt x="33337" y="122238"/>
                </a:lnTo>
                <a:lnTo>
                  <a:pt x="33337" y="66675"/>
                </a:lnTo>
                <a:lnTo>
                  <a:pt x="16669" y="66675"/>
                </a:lnTo>
                <a:cubicBezTo>
                  <a:pt x="7431" y="66675"/>
                  <a:pt x="0" y="59244"/>
                  <a:pt x="0" y="50006"/>
                </a:cubicBezTo>
                <a:close/>
                <a:moveTo>
                  <a:pt x="21114" y="209193"/>
                </a:moveTo>
                <a:cubicBezTo>
                  <a:pt x="29031" y="203220"/>
                  <a:pt x="38685" y="200025"/>
                  <a:pt x="48617" y="200025"/>
                </a:cubicBezTo>
                <a:lnTo>
                  <a:pt x="52020" y="200025"/>
                </a:lnTo>
                <a:cubicBezTo>
                  <a:pt x="75426" y="200025"/>
                  <a:pt x="94456" y="219055"/>
                  <a:pt x="94456" y="242461"/>
                </a:cubicBezTo>
                <a:cubicBezTo>
                  <a:pt x="94456" y="256074"/>
                  <a:pt x="87928" y="268784"/>
                  <a:pt x="76954" y="276771"/>
                </a:cubicBezTo>
                <a:lnTo>
                  <a:pt x="60285" y="288925"/>
                </a:lnTo>
                <a:lnTo>
                  <a:pt x="83344" y="288925"/>
                </a:lnTo>
                <a:cubicBezTo>
                  <a:pt x="92581" y="288925"/>
                  <a:pt x="100013" y="296356"/>
                  <a:pt x="100013" y="305594"/>
                </a:cubicBezTo>
                <a:cubicBezTo>
                  <a:pt x="100013" y="314831"/>
                  <a:pt x="92581" y="322263"/>
                  <a:pt x="83344" y="322263"/>
                </a:cubicBezTo>
                <a:lnTo>
                  <a:pt x="20350" y="322263"/>
                </a:lnTo>
                <a:cubicBezTo>
                  <a:pt x="9098" y="322263"/>
                  <a:pt x="0" y="313164"/>
                  <a:pt x="0" y="301913"/>
                </a:cubicBezTo>
                <a:cubicBezTo>
                  <a:pt x="0" y="295384"/>
                  <a:pt x="3125" y="289272"/>
                  <a:pt x="8404" y="285452"/>
                </a:cubicBezTo>
                <a:lnTo>
                  <a:pt x="57368" y="249823"/>
                </a:lnTo>
                <a:cubicBezTo>
                  <a:pt x="59730" y="248087"/>
                  <a:pt x="61119" y="245378"/>
                  <a:pt x="61119" y="242461"/>
                </a:cubicBezTo>
                <a:cubicBezTo>
                  <a:pt x="61119" y="237460"/>
                  <a:pt x="57021" y="233362"/>
                  <a:pt x="52020" y="233362"/>
                </a:cubicBezTo>
                <a:lnTo>
                  <a:pt x="48617" y="233363"/>
                </a:lnTo>
                <a:cubicBezTo>
                  <a:pt x="45909" y="233363"/>
                  <a:pt x="43269" y="234265"/>
                  <a:pt x="41116" y="235863"/>
                </a:cubicBezTo>
                <a:lnTo>
                  <a:pt x="26670" y="246698"/>
                </a:lnTo>
                <a:cubicBezTo>
                  <a:pt x="19308" y="252254"/>
                  <a:pt x="8890" y="250726"/>
                  <a:pt x="3334" y="243364"/>
                </a:cubicBezTo>
                <a:cubicBezTo>
                  <a:pt x="-2223" y="236002"/>
                  <a:pt x="-695" y="225584"/>
                  <a:pt x="6668" y="220028"/>
                </a:cubicBezTo>
                <a:lnTo>
                  <a:pt x="21114" y="209193"/>
                </a:lnTo>
                <a:close/>
                <a:moveTo>
                  <a:pt x="155575" y="44450"/>
                </a:move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55575" y="88900"/>
                </a:lnTo>
                <a:cubicBezTo>
                  <a:pt x="143282" y="88900"/>
                  <a:pt x="133350" y="78968"/>
                  <a:pt x="133350" y="66675"/>
                </a:cubicBezTo>
                <a:cubicBezTo>
                  <a:pt x="133350" y="54382"/>
                  <a:pt x="143282" y="44450"/>
                  <a:pt x="155575" y="44450"/>
                </a:cubicBezTo>
                <a:close/>
                <a:moveTo>
                  <a:pt x="155575" y="155575"/>
                </a:move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55575" y="200025"/>
                </a:lnTo>
                <a:cubicBezTo>
                  <a:pt x="143282" y="200025"/>
                  <a:pt x="133350" y="190093"/>
                  <a:pt x="133350" y="177800"/>
                </a:cubicBezTo>
                <a:cubicBezTo>
                  <a:pt x="133350" y="165507"/>
                  <a:pt x="143282" y="155575"/>
                  <a:pt x="155575" y="155575"/>
                </a:cubicBez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56700" y="1727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Transparent AI Matching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74100" y="2184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Produces ranked candidates with transparent scoring and reasoning.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3429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2000" y="3429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906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13360" y="22225"/>
                </a:moveTo>
                <a:lnTo>
                  <a:pt x="284480" y="22225"/>
                </a:lnTo>
                <a:cubicBezTo>
                  <a:pt x="294315" y="22225"/>
                  <a:pt x="302260" y="32157"/>
                  <a:pt x="302260" y="44450"/>
                </a:cubicBezTo>
                <a:cubicBezTo>
                  <a:pt x="302260" y="56743"/>
                  <a:pt x="294315" y="66675"/>
                  <a:pt x="284480" y="66675"/>
                </a:cubicBezTo>
                <a:lnTo>
                  <a:pt x="221361" y="66675"/>
                </a:lnTo>
                <a:cubicBezTo>
                  <a:pt x="218472" y="84594"/>
                  <a:pt x="208637" y="99387"/>
                  <a:pt x="195580" y="106472"/>
                </a:cubicBezTo>
                <a:lnTo>
                  <a:pt x="195580" y="311150"/>
                </a:lnTo>
                <a:lnTo>
                  <a:pt x="284480" y="311150"/>
                </a:lnTo>
                <a:cubicBezTo>
                  <a:pt x="294315" y="311150"/>
                  <a:pt x="302260" y="321082"/>
                  <a:pt x="302260" y="333375"/>
                </a:cubicBezTo>
                <a:cubicBezTo>
                  <a:pt x="302260" y="345668"/>
                  <a:pt x="294315" y="355600"/>
                  <a:pt x="284480" y="355600"/>
                </a:cubicBezTo>
                <a:lnTo>
                  <a:pt x="71120" y="355600"/>
                </a:lnTo>
                <a:cubicBezTo>
                  <a:pt x="61285" y="355600"/>
                  <a:pt x="53340" y="345668"/>
                  <a:pt x="53340" y="333375"/>
                </a:cubicBezTo>
                <a:cubicBezTo>
                  <a:pt x="53340" y="321082"/>
                  <a:pt x="61285" y="311150"/>
                  <a:pt x="71120" y="311150"/>
                </a:cubicBezTo>
                <a:lnTo>
                  <a:pt x="160020" y="311150"/>
                </a:lnTo>
                <a:lnTo>
                  <a:pt x="160020" y="106472"/>
                </a:lnTo>
                <a:cubicBezTo>
                  <a:pt x="146963" y="99318"/>
                  <a:pt x="137128" y="84524"/>
                  <a:pt x="134239" y="66675"/>
                </a:cubicBezTo>
                <a:lnTo>
                  <a:pt x="71120" y="66675"/>
                </a:lnTo>
                <a:cubicBezTo>
                  <a:pt x="61285" y="66675"/>
                  <a:pt x="53340" y="56743"/>
                  <a:pt x="53340" y="44450"/>
                </a:cubicBezTo>
                <a:cubicBezTo>
                  <a:pt x="53340" y="32157"/>
                  <a:pt x="61285" y="22225"/>
                  <a:pt x="71120" y="22225"/>
                </a:cubicBezTo>
                <a:lnTo>
                  <a:pt x="142240" y="22225"/>
                </a:lnTo>
                <a:cubicBezTo>
                  <a:pt x="150352" y="8751"/>
                  <a:pt x="163243" y="0"/>
                  <a:pt x="177800" y="0"/>
                </a:cubicBezTo>
                <a:cubicBezTo>
                  <a:pt x="192357" y="0"/>
                  <a:pt x="205248" y="8751"/>
                  <a:pt x="213360" y="22225"/>
                </a:cubicBezTo>
                <a:close/>
                <a:moveTo>
                  <a:pt x="244253" y="222250"/>
                </a:moveTo>
                <a:lnTo>
                  <a:pt x="324707" y="222250"/>
                </a:lnTo>
                <a:lnTo>
                  <a:pt x="284480" y="135989"/>
                </a:lnTo>
                <a:lnTo>
                  <a:pt x="244253" y="222250"/>
                </a:lnTo>
                <a:close/>
                <a:moveTo>
                  <a:pt x="284480" y="288925"/>
                </a:moveTo>
                <a:cubicBezTo>
                  <a:pt x="249531" y="288925"/>
                  <a:pt x="220472" y="265311"/>
                  <a:pt x="214471" y="234126"/>
                </a:cubicBezTo>
                <a:cubicBezTo>
                  <a:pt x="213027" y="226487"/>
                  <a:pt x="215027" y="218638"/>
                  <a:pt x="218194" y="211832"/>
                </a:cubicBezTo>
                <a:lnTo>
                  <a:pt x="271089" y="98485"/>
                </a:lnTo>
                <a:cubicBezTo>
                  <a:pt x="273868" y="92512"/>
                  <a:pt x="278979" y="88900"/>
                  <a:pt x="284480" y="88900"/>
                </a:cubicBezTo>
                <a:cubicBezTo>
                  <a:pt x="289981" y="88900"/>
                  <a:pt x="295092" y="92581"/>
                  <a:pt x="297871" y="98485"/>
                </a:cubicBezTo>
                <a:lnTo>
                  <a:pt x="350766" y="211832"/>
                </a:lnTo>
                <a:cubicBezTo>
                  <a:pt x="353933" y="218638"/>
                  <a:pt x="355933" y="226487"/>
                  <a:pt x="354489" y="234126"/>
                </a:cubicBezTo>
                <a:cubicBezTo>
                  <a:pt x="348488" y="265241"/>
                  <a:pt x="319429" y="288925"/>
                  <a:pt x="284480" y="288925"/>
                </a:cubicBezTo>
                <a:close/>
                <a:moveTo>
                  <a:pt x="70453" y="135989"/>
                </a:moveTo>
                <a:lnTo>
                  <a:pt x="30226" y="222250"/>
                </a:lnTo>
                <a:lnTo>
                  <a:pt x="110736" y="222250"/>
                </a:lnTo>
                <a:lnTo>
                  <a:pt x="70453" y="135989"/>
                </a:lnTo>
                <a:close/>
                <a:moveTo>
                  <a:pt x="500" y="234126"/>
                </a:moveTo>
                <a:cubicBezTo>
                  <a:pt x="-945" y="226487"/>
                  <a:pt x="1056" y="218638"/>
                  <a:pt x="4223" y="211832"/>
                </a:cubicBezTo>
                <a:lnTo>
                  <a:pt x="57118" y="98485"/>
                </a:lnTo>
                <a:cubicBezTo>
                  <a:pt x="59896" y="92512"/>
                  <a:pt x="65008" y="88900"/>
                  <a:pt x="70509" y="88900"/>
                </a:cubicBezTo>
                <a:cubicBezTo>
                  <a:pt x="76010" y="88900"/>
                  <a:pt x="81121" y="92581"/>
                  <a:pt x="83899" y="98485"/>
                </a:cubicBezTo>
                <a:lnTo>
                  <a:pt x="136795" y="211832"/>
                </a:lnTo>
                <a:cubicBezTo>
                  <a:pt x="139962" y="218638"/>
                  <a:pt x="141962" y="226487"/>
                  <a:pt x="140518" y="234126"/>
                </a:cubicBezTo>
                <a:cubicBezTo>
                  <a:pt x="134517" y="265241"/>
                  <a:pt x="105458" y="288925"/>
                  <a:pt x="70509" y="288925"/>
                </a:cubicBezTo>
                <a:cubicBezTo>
                  <a:pt x="35560" y="288925"/>
                  <a:pt x="6501" y="265311"/>
                  <a:pt x="500" y="234126"/>
                </a:cubicBezTo>
                <a:close/>
              </a:path>
            </a:pathLst>
          </a:cu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473200" y="3632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Fairness Mechanism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0600" y="4089400"/>
            <a:ext cx="65659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Assessment-based penalty discourages unverified skill claims.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45500" y="3429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45500" y="3429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6741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8923" y="-6876"/>
                </a:moveTo>
                <a:cubicBezTo>
                  <a:pt x="278368" y="-903"/>
                  <a:pt x="281861" y="9932"/>
                  <a:pt x="277574" y="19377"/>
                </a:cubicBezTo>
                <a:lnTo>
                  <a:pt x="215344" y="155575"/>
                </a:lnTo>
                <a:lnTo>
                  <a:pt x="330200" y="155575"/>
                </a:lnTo>
                <a:cubicBezTo>
                  <a:pt x="340916" y="155575"/>
                  <a:pt x="350441" y="161409"/>
                  <a:pt x="354092" y="170230"/>
                </a:cubicBezTo>
                <a:cubicBezTo>
                  <a:pt x="357743" y="179050"/>
                  <a:pt x="354648" y="188913"/>
                  <a:pt x="346472" y="194885"/>
                </a:cubicBezTo>
                <a:lnTo>
                  <a:pt x="117872" y="361573"/>
                </a:lnTo>
                <a:cubicBezTo>
                  <a:pt x="108903" y="368102"/>
                  <a:pt x="96123" y="368449"/>
                  <a:pt x="86678" y="362476"/>
                </a:cubicBezTo>
                <a:cubicBezTo>
                  <a:pt x="77232" y="356503"/>
                  <a:pt x="73739" y="345668"/>
                  <a:pt x="78026" y="336223"/>
                </a:cubicBezTo>
                <a:lnTo>
                  <a:pt x="140256" y="200025"/>
                </a:lnTo>
                <a:lnTo>
                  <a:pt x="25400" y="200025"/>
                </a:lnTo>
                <a:cubicBezTo>
                  <a:pt x="14684" y="200025"/>
                  <a:pt x="5159" y="194191"/>
                  <a:pt x="1508" y="185370"/>
                </a:cubicBezTo>
                <a:cubicBezTo>
                  <a:pt x="-2143" y="176550"/>
                  <a:pt x="952" y="166688"/>
                  <a:pt x="9128" y="160715"/>
                </a:cubicBezTo>
                <a:lnTo>
                  <a:pt x="237728" y="-5973"/>
                </a:lnTo>
                <a:cubicBezTo>
                  <a:pt x="246698" y="-12502"/>
                  <a:pt x="259477" y="-12849"/>
                  <a:pt x="268923" y="-6876"/>
                </a:cubicBezTo>
                <a:close/>
              </a:path>
            </a:pathLst>
          </a:cu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56700" y="3632200"/>
            <a:ext cx="6032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Caching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74100" y="4089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5-minute TTL keyed on update timestamp balances speed and freshness.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6652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Limitations &amp; Challenges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4826000"/>
        </p:xfrm>
        <a:graphic>
          <a:graphicData uri="http://schemas.openxmlformats.org/drawingml/2006/table">
            <a:tbl>
              <a:tblPr/>
              <a:tblGrid>
                <a:gridCol w="412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Challenge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Description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Resolution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CV Parsing Accuracy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Diverse resume formats cause inconsistent extraction results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LLM-based extraction with validation layer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Cache Staleness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Cached results become stale after job edits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Update timestamp embedded in cache key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SQL Cascade Restrictions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SQL Server cascade path limitations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Adjusted foreign key enforcement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1720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Assessment Quality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Dynamic question generation variability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E293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Tailored LLM prompting + retake cooldown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F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6604000"/>
            <a:ext cx="14732000" cy="762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62000" y="6604000"/>
            <a:ext cx="50800" cy="762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16000" y="67310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Security:</a:t>
            </a: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Layered security architecture required to balance protection with user experience.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732000" y="87376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6652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Lessons Learned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16256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51000" y="16256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Effectiveness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90600" y="2057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excel at structured extraction but require careful prompt engineering and validation.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45500" y="1524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445500" y="1524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36000" y="16256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334500" y="16256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Invalidation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674100" y="2057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Timestamp-based cache keys offer simpler invalidation than manual cache-clearing logic.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2000" y="3429000"/>
            <a:ext cx="7048500" cy="15240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2000" y="3429000"/>
            <a:ext cx="50800" cy="15240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2500" y="35306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651000" y="35306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RTL from the Start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90600" y="3962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Bilingual RTL support must be designed from the start, not retrofitted later.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445500" y="3429000"/>
            <a:ext cx="7048500" cy="1524000"/>
          </a:xfrm>
          <a:prstGeom prst="rect">
            <a:avLst/>
          </a:prstGeom>
          <a:solidFill>
            <a:srgbClr val="1E4D4D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445500" y="3429000"/>
            <a:ext cx="50800" cy="1524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36000" y="3530600"/>
            <a:ext cx="6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34500" y="35306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Security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674100" y="3962400"/>
            <a:ext cx="65659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Layered defenses (hashing, lockout, enumeration prevention) outperform single mechanisms.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665200" y="63500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&amp;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17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8458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kern="0" spc="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kern="0" spc="50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 &amp; 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E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193800"/>
            <a:ext cx="1016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 delivers an </a:t>
            </a:r>
            <a:r>
              <a:rPr lang="en-US" sz="20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integrated, AI-driven, end-to-end recruitment solution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combines profiling, assessments, AI matching, and communication in a single platform.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3200400"/>
            <a:ext cx="203200" cy="203200"/>
          </a:xfrm>
          <a:prstGeom prst="ellipse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70000" y="3048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recruitment effort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intelligent automation and proactive candidate recommendations.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3962400"/>
            <a:ext cx="203200" cy="203200"/>
          </a:xfrm>
          <a:prstGeom prst="ellipse">
            <a:avLst/>
          </a:prstGeom>
          <a:solidFill>
            <a:srgbClr val="1E4D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70000" y="3810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Improves matching accuracy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multi-factor AI scoring with transparent reasoning.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724400"/>
            <a:ext cx="203200" cy="2032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70000" y="4572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Minimizes bias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structured assessments, fairness penalties, and data-driven decisions.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4400" y="5486400"/>
            <a:ext cx="203200" cy="2032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70000" y="5334000"/>
            <a:ext cx="1397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Demonstrates practical AI value</a:t>
            </a: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modern hiring systems through real-world integration.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E8E6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62000" y="87376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EELU - FCIT 2026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05000" y="8737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 / 30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4D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6096000"/>
            <a:ext cx="2540000" cy="254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1270000" cy="127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778000" y="10160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Work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0" y="1778000"/>
            <a:ext cx="2540000" cy="38100"/>
          </a:xfrm>
          <a:prstGeom prst="rect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057400" y="2349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413000" y="2184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ML/NLP models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improved matching and extraction accuracy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57400" y="3111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13000" y="2946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AI-powered interview analysis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communication and technical performance evaluation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057400" y="3873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13000" y="3708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resume analysis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personality assessment techniques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57400" y="4635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13000" y="4470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to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applications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multilingual interfaces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057400" y="5397500"/>
            <a:ext cx="177800" cy="177800"/>
          </a:xfrm>
          <a:prstGeom prst="ellipse">
            <a:avLst/>
          </a:prstGeom>
          <a:solidFill>
            <a:srgbClr val="C17A1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13000" y="52324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 with platforms such as </a:t>
            </a: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LinkedIn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profile synchronization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588000" y="6477000"/>
            <a:ext cx="5080000" cy="25400"/>
          </a:xfrm>
          <a:prstGeom prst="rect">
            <a:avLst/>
          </a:prstGeom>
          <a:solidFill>
            <a:srgbClr val="FFFFFF">
              <a:alpha val="18824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18000" y="6731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C17A1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83000" y="73025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JobIntel — AI-Powered Recruitment Platform | EELU - FCIT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2689</Words>
  <Application>Microsoft Office PowerPoint</Application>
  <PresentationFormat>Custom</PresentationFormat>
  <Paragraphs>615</Paragraphs>
  <Slides>32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Quattrocento Sans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JobIntel: AI-Powered Recruitment Platform</dc:title>
  <dc:subject>JobIntel: AI-Powered Recruitment Platform</dc:subject>
  <dc:creator>Kimi</dc:creator>
  <cp:lastModifiedBy>yahiaa mohamed</cp:lastModifiedBy>
  <cp:revision>2</cp:revision>
  <dcterms:created xsi:type="dcterms:W3CDTF">2026-06-18T13:36:34Z</dcterms:created>
  <dcterms:modified xsi:type="dcterms:W3CDTF">2026-06-18T19:43:21Z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{"Label":"JobIntel: AI-Powered Recruitment Platform","ContentProducer":"001191110108MACG2KBH8F10000","ProduceID":"19edae23-f842-8df8-8000-0000c9fe4962","ReservedCode1":"","ContentPropagator":"001191110108MACG2KBH8F20000","PropagateID":"19edae09-9222-884f-8000-09a275cec49b","ReservedCode2":""}</vt:lpwstr>
  </property>
</Properties>
</file>